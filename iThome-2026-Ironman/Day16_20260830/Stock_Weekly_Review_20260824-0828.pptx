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960120"/>
            <a:ext cx="438912" cy="508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778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W E E K L Y   M A R K E T   R E V I E 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63040"/>
            <a:ext cx="10058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5000" b="1">
                <a:solidFill>
                  <a:srgbClr val="FFFFFF"/>
                </a:solidFill>
                <a:latin typeface="Microsoft JhengHei"/>
              </a:rPr>
              <a:t>台股財經節目週摘要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onsolas"/>
              </a:rPr>
              <a:t>2026 / 08 / 24  —  08 / 28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7D5E5"/>
                </a:solidFill>
                <a:latin typeface="Microsoft JhengHei"/>
              </a:rPr>
              <a:t>上週回顧　×　下週判斷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16052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7E95AF"/>
                </a:solidFill>
                <a:latin typeface="Microsoft JhengHei"/>
              </a:rPr>
              <a:t>來源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onsolas"/>
              </a:rPr>
              <a:t>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7D5E5"/>
                </a:solidFill>
                <a:latin typeface="Microsoft JhengHei"/>
              </a:rPr>
              <a:t>個交易日的節目摘要檔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4992" y="416052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7E95AF"/>
                </a:solidFill>
                <a:latin typeface="Microsoft JhengHei"/>
              </a:rPr>
              <a:t>涵蓋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onsolas"/>
              </a:rPr>
              <a:t>約 30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7D5E5"/>
                </a:solidFill>
                <a:latin typeface="Microsoft JhengHei"/>
              </a:rPr>
              <a:t>位分析師的發言，逐日彙整後跨日比對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60520"/>
            <a:ext cx="12700" cy="1143000"/>
          </a:xfrm>
          <a:prstGeom prst="rect">
            <a:avLst/>
          </a:prstGeom>
          <a:solidFill>
            <a:srgbClr val="2B4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41605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7E95AF"/>
                </a:solidFill>
                <a:latin typeface="Microsoft JhengHei"/>
              </a:rPr>
              <a:t>整理原則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4EAF1"/>
                </a:solidFill>
                <a:latin typeface="Microsoft JhengHei"/>
              </a:rPr>
              <a:t>只轉述節目講過的內容，不加入整理者自己的判斷；每一條都標示是哪位分析師講的；查不到的股名與代號標「待確認」。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5779008"/>
            <a:ext cx="11130991" cy="12700"/>
          </a:xfrm>
          <a:prstGeom prst="rect">
            <a:avLst/>
          </a:prstGeom>
          <a:solidFill>
            <a:srgbClr val="2B4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6035040"/>
            <a:ext cx="128016" cy="128016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961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D9DC"/>
                </a:solidFill>
                <a:latin typeface="Microsoft JhengHei"/>
              </a:rPr>
              <a:t>本簡報為節目內容整理，不構成任何投資建議。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0167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E95AF"/>
                </a:solidFill>
                <a:latin typeface="Microsoft JhengHei"/>
              </a:rPr>
              <a:t>Generated with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上週指數軌跡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"/>
            <a:ext cx="37975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先看發生了什麼，再看誰講對了什麼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" y="1298448"/>
          <a:ext cx="11128248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5880"/>
                <a:gridCol w="2331720"/>
                <a:gridCol w="2377440"/>
                <a:gridCol w="5093208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日期</a:t>
                      </a:r>
                    </a:p>
                  </a:txBody>
                  <a:tcPr marL="91440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收盤／變動</a:t>
                      </a:r>
                    </a:p>
                  </a:txBody>
                  <a:tcPr marL="91440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成交量</a:t>
                      </a:r>
                    </a:p>
                  </a:txBody>
                  <a:tcPr marL="91440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當日主軸</a:t>
                      </a:r>
                    </a:p>
                  </a:txBody>
                  <a:tcPr marL="91440" marR="73152" marT="27432" marB="27432" anchor="ctr">
                    <a:solidFill>
                      <a:srgbClr val="0C234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01828"/>
                          </a:solidFill>
                          <a:latin typeface="Consolas"/>
                        </a:rPr>
                        <a:t>08/24 (一)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F7A55"/>
                          </a:solidFill>
                          <a:latin typeface="Consolas"/>
                        </a:rPr>
                        <a:t>44,762　-461 點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6,294 億（今年 4 月以來新低量）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極度觀望；矽晶圓全面漲價成為弱勢盤中亮點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01828"/>
                          </a:solidFill>
                          <a:latin typeface="Consolas"/>
                        </a:rPr>
                        <a:t>08/25 (二)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破底後尾盤大拉近千點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量縮觀望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44,000 點支撐守住，等輝達財報與 PCE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01828"/>
                          </a:solidFill>
                          <a:latin typeface="Consolas"/>
                        </a:rPr>
                        <a:t>08/26 (三)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1121F"/>
                          </a:solidFill>
                          <a:latin typeface="Consolas"/>
                        </a:rPr>
                        <a:t>+663 點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放大至 8,000 億以上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美債殖利率與油價大跌，資金回流電子；貨櫃航運重挫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01828"/>
                          </a:solidFill>
                          <a:latin typeface="Consolas"/>
                        </a:rPr>
                        <a:t>08/27 (四)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1121F"/>
                          </a:solidFill>
                          <a:latin typeface="Consolas"/>
                        </a:rPr>
                        <a:t>45,975　+142 點（收長上影線）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量能不足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輝達財報超標，盤中漲逾 500 點挑戰前高後收斂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01828"/>
                          </a:solidFill>
                          <a:latin typeface="Consolas"/>
                        </a:rPr>
                        <a:t>08/28 (五)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1121F"/>
                          </a:solidFill>
                          <a:latin typeface="Consolas"/>
                        </a:rPr>
                        <a:t>四天自低點累計 +2,300 點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突破兆元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外資 8 月買超 3,707 億元創單月新高，台幣升至 31.57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30352" y="4498848"/>
            <a:ext cx="11130991" cy="120700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663440"/>
            <a:ext cx="106189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週一恐慌新低量　→　週二尾盤反攻　→　週三資金回流電子　→　週四輝達利多但收上影線　→　週五量能過兆但未過前高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7D5E5"/>
                </a:solidFill>
                <a:latin typeface="Microsoft JhengHei"/>
              </a:rPr>
              <a:t>陳昆仁在週一即指出「新低量不等於新低價」，是主力量縮洗浮額；四天後大盤自低點漲逾 2,000 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指數與量能數字均為節目中提及者，未經另行查證。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總體環境：三個變數同時轉向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"/>
            <a:ext cx="37975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利率、油價、匯率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298448"/>
            <a:ext cx="3675887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298448"/>
            <a:ext cx="3675887" cy="38100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81328"/>
            <a:ext cx="323697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01828"/>
                </a:solidFill>
                <a:latin typeface="Microsoft JhengHei"/>
              </a:rPr>
              <a:t>美債殖利率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B6472"/>
                </a:solidFill>
                <a:latin typeface="Microsoft JhengHei"/>
              </a:rPr>
              <a:t>週初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01828"/>
                </a:solidFill>
                <a:latin typeface="Consolas"/>
              </a:rPr>
              <a:t>10 年期約 4.73%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01828"/>
                </a:solidFill>
                <a:latin typeface="Consolas"/>
              </a:rPr>
              <a:t>30 年期約 5.27%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1">
                <a:solidFill>
                  <a:srgbClr val="0F7A55"/>
                </a:solidFill>
                <a:latin typeface="Microsoft JhengHei"/>
              </a:rPr>
              <a:t>↓　長天期殖利率下滑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財政部擴大長債回購，規模約 1 兆美元；利率走跌有助高本益比成長股估值修復。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Microsoft JhengHei"/>
              </a:rPr>
              <a:t>游庭皓、林漢偉、容逸燊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256" y="1298448"/>
            <a:ext cx="3675887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298448"/>
            <a:ext cx="3675887" cy="38100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481328"/>
            <a:ext cx="323697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01828"/>
                </a:solidFill>
                <a:latin typeface="Microsoft JhengHei"/>
              </a:rPr>
              <a:t>油價與通膨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B6472"/>
                </a:solidFill>
                <a:latin typeface="Microsoft JhengHei"/>
              </a:rPr>
              <a:t>週初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01828"/>
                </a:solidFill>
                <a:latin typeface="Microsoft JhengHei"/>
              </a:rPr>
              <a:t>關稅戰擴大至加拿大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01828"/>
                </a:solidFill>
                <a:latin typeface="Microsoft JhengHei"/>
              </a:rPr>
              <a:t>通膨預期升溫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1">
                <a:solidFill>
                  <a:srgbClr val="0F7A55"/>
                </a:solidFill>
                <a:latin typeface="Microsoft JhengHei"/>
              </a:rPr>
              <a:t>↓　布蘭特原油單日大跌約 4%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伊朗與阿曼協商重啟霍爾木茲海峽臨時航道並排雷，全球通膨預期降溫。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Microsoft JhengHei"/>
              </a:rPr>
              <a:t>林漢偉、劉育綸、蔚辰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298448"/>
            <a:ext cx="3675887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298448"/>
            <a:ext cx="3675887" cy="381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1481328"/>
            <a:ext cx="323697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01828"/>
                </a:solidFill>
                <a:latin typeface="Microsoft JhengHei"/>
              </a:rPr>
              <a:t>匯率與外資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B6472"/>
                </a:solidFill>
                <a:latin typeface="Microsoft JhengHei"/>
              </a:rPr>
              <a:t>週初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01828"/>
                </a:solidFill>
                <a:latin typeface="Microsoft JhengHei"/>
              </a:rPr>
              <a:t>外資大舉匯出 280 億美元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1">
                <a:solidFill>
                  <a:srgbClr val="C1121F"/>
                </a:solidFill>
                <a:latin typeface="Microsoft JhengHei"/>
              </a:rPr>
              <a:t>↑　台幣升至 31.57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美元指數走弱，外資期現貨同步翻多，8 月買超 3,707 億元，創史上單月最高。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Microsoft JhengHei"/>
              </a:rPr>
              <a:t>容逸燊、高憲容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4160520"/>
            <a:ext cx="11130991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" y="4160520"/>
            <a:ext cx="38100" cy="15727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334256"/>
            <a:ext cx="10618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2340"/>
                </a:solidFill>
                <a:latin typeface="Microsoft JhengHei"/>
              </a:rPr>
              <a:t>其他總經數字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75488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7 月 PCE 年增 3.7%、核心 3.3%，與 6 月持平，通膨具黏滯性；9 月大機率按兵不動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Microsoft JhengHei"/>
              </a:rPr>
              <a:t>胡睿涵、祥維、紀緯明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475488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台灣 7 月工業生產與製造業生產指數創單月歷史新高，景氣燈號連八紅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Microsoft JhengHei"/>
              </a:rPr>
              <a:t>蔚辰、游庭皓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475488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大摩上修台灣今年經濟成長率至 11.6%，為 40 年來最快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Microsoft JhengHei"/>
              </a:rPr>
              <a:t>胡睿涵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以上為節目中提及的數據，未另行查證原始統計來源。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一週共識：看多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"/>
            <a:ext cx="37975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以「五天當中有幾天被列為一致看多」計算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" y="1298448"/>
          <a:ext cx="11128248" cy="25968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1737360"/>
                <a:gridCol w="6922008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產業／主題</a:t>
                      </a:r>
                    </a:p>
                  </a:txBody>
                  <a:tcPr marL="91440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天數</a:t>
                      </a:r>
                    </a:p>
                  </a:txBody>
                  <a:tcPr marL="91440" marR="73152" marT="27432" marB="27432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代表看多者</a:t>
                      </a:r>
                    </a:p>
                  </a:txBody>
                  <a:tcPr marL="91440" marR="73152" marT="27432" marB="27432" anchor="ctr"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01828"/>
                          </a:solidFill>
                          <a:latin typeface="Microsoft JhengHei"/>
                        </a:rPr>
                        <a:t>CPO 光通訊／矽光子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1121F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林漢偉、陳昆仁、劉育綸、容逸燊、黃豐凱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01828"/>
                          </a:solidFill>
                          <a:latin typeface="Microsoft JhengHei"/>
                        </a:rPr>
                        <a:t>ABF 載板／CCL／PCB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1121F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林漢偉、劉育綸、陳於晨、陳威良、囿羽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01828"/>
                          </a:solidFill>
                          <a:latin typeface="Microsoft JhengHei"/>
                        </a:rPr>
                        <a:t>記憶體／HBM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1121F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林漢偉、陳昆仁、高憲容、老王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01828"/>
                          </a:solidFill>
                          <a:latin typeface="Microsoft JhengHei"/>
                        </a:rPr>
                        <a:t>先進封裝設備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B6472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容逸燊、陳昆仁、祥維、囿羽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01828"/>
                          </a:solidFill>
                          <a:latin typeface="Microsoft JhengHei"/>
                        </a:rPr>
                        <a:t>被動元件／MLCC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B6472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郭哲榮、林漢偉、陳昆仁、鍾國忠、黃豐凱（08/28 才成形）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01828"/>
                          </a:solidFill>
                          <a:latin typeface="Microsoft JhengHei"/>
                        </a:rPr>
                        <a:t>矽晶圓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B6472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01828"/>
                          </a:solidFill>
                          <a:latin typeface="Microsoft JhengHei"/>
                        </a:rPr>
                        <a:t>林漢偉、陳昆仁、郭哲榮、楊雲翔、祥維（08/24，之後轉為分歧）</a:t>
                      </a:r>
                    </a:p>
                  </a:txBody>
                  <a:tcPr marL="91440" marR="73152" marT="27432" marB="27432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319272" y="1728216"/>
            <a:ext cx="877824" cy="1016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19272" y="2112264"/>
            <a:ext cx="877824" cy="1016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2496312"/>
            <a:ext cx="877824" cy="1016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9272" y="2880360"/>
            <a:ext cx="438912" cy="101600"/>
          </a:xfrm>
          <a:prstGeom prst="rect">
            <a:avLst/>
          </a:prstGeom>
          <a:solidFill>
            <a:srgbClr val="E9B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3264408"/>
            <a:ext cx="219456" cy="101600"/>
          </a:xfrm>
          <a:prstGeom prst="rect">
            <a:avLst/>
          </a:prstGeom>
          <a:solidFill>
            <a:srgbClr val="E9B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3648456"/>
            <a:ext cx="219456" cy="101600"/>
          </a:xfrm>
          <a:prstGeom prst="rect">
            <a:avLst/>
          </a:prstGeom>
          <a:solidFill>
            <a:srgbClr val="E9B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" y="4160520"/>
            <a:ext cx="11130991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343400"/>
            <a:ext cx="10618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2340"/>
                </a:solidFill>
                <a:latin typeface="Microsoft JhengHei"/>
              </a:rPr>
              <a:t>跨日重複出現的個股（括號為週內被列入一致看多的天數）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4800600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73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01828"/>
                </a:solidFill>
                <a:latin typeface="Microsoft JhengHei"/>
              </a:rPr>
              <a:t>大立光　</a:t>
            </a:r>
            <a:r>
              <a:rPr sz="1050" b="0">
                <a:solidFill>
                  <a:srgbClr val="5B6472"/>
                </a:solidFill>
                <a:latin typeface="Consolas"/>
              </a:rPr>
              <a:t>3008　</a:t>
            </a:r>
            <a:r>
              <a:rPr sz="1300" b="1">
                <a:solidFill>
                  <a:srgbClr val="C1121F"/>
                </a:solidFill>
                <a:latin typeface="Consola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99232" y="4800600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9B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4873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01828"/>
                </a:solidFill>
                <a:latin typeface="Microsoft JhengHei"/>
              </a:rPr>
              <a:t>聯亞　</a:t>
            </a:r>
            <a:r>
              <a:rPr sz="1050" b="0">
                <a:solidFill>
                  <a:srgbClr val="5B6472"/>
                </a:solidFill>
                <a:latin typeface="Consolas"/>
              </a:rPr>
              <a:t>3081　</a:t>
            </a:r>
            <a:r>
              <a:rPr sz="1300" b="1">
                <a:solidFill>
                  <a:srgbClr val="C1121F"/>
                </a:solidFill>
                <a:latin typeface="Consolas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4800600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9B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4873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01828"/>
                </a:solidFill>
                <a:latin typeface="Microsoft JhengHei"/>
              </a:rPr>
              <a:t>南亞科　</a:t>
            </a:r>
            <a:r>
              <a:rPr sz="1050" b="0">
                <a:solidFill>
                  <a:srgbClr val="5B6472"/>
                </a:solidFill>
                <a:latin typeface="Consolas"/>
              </a:rPr>
              <a:t>2408　</a:t>
            </a:r>
            <a:r>
              <a:rPr sz="1300" b="1">
                <a:solidFill>
                  <a:srgbClr val="C1121F"/>
                </a:solidFill>
                <a:latin typeface="Consolas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24928" y="4800600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4873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南電　</a:t>
            </a:r>
            <a:r>
              <a:rPr sz="1050" b="0">
                <a:solidFill>
                  <a:srgbClr val="5B6472"/>
                </a:solidFill>
                <a:latin typeface="Consolas"/>
              </a:rPr>
              <a:t>8046　</a:t>
            </a:r>
            <a:r>
              <a:rPr sz="1300" b="1">
                <a:solidFill>
                  <a:srgbClr val="5B6472"/>
                </a:solidFill>
                <a:latin typeface="Consolas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4800600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47504" y="4873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景碩　</a:t>
            </a:r>
            <a:r>
              <a:rPr sz="1050" b="0">
                <a:solidFill>
                  <a:srgbClr val="5B6472"/>
                </a:solidFill>
                <a:latin typeface="Consolas"/>
              </a:rPr>
              <a:t>3189　</a:t>
            </a:r>
            <a:r>
              <a:rPr sz="1300" b="1">
                <a:solidFill>
                  <a:srgbClr val="5B6472"/>
                </a:solidFill>
                <a:latin typeface="Consolas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" y="5276088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5349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聯茂　</a:t>
            </a:r>
            <a:r>
              <a:rPr sz="1050" b="0">
                <a:solidFill>
                  <a:srgbClr val="5B6472"/>
                </a:solidFill>
                <a:latin typeface="Consolas"/>
              </a:rPr>
              <a:t>6213　</a:t>
            </a:r>
            <a:r>
              <a:rPr sz="1300" b="1">
                <a:solidFill>
                  <a:srgbClr val="5B6472"/>
                </a:solidFill>
                <a:latin typeface="Consolas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99232" y="5276088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5349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聯電　</a:t>
            </a:r>
            <a:r>
              <a:rPr sz="1050" b="0">
                <a:solidFill>
                  <a:srgbClr val="5B6472"/>
                </a:solidFill>
                <a:latin typeface="Consolas"/>
              </a:rPr>
              <a:t>2303　</a:t>
            </a:r>
            <a:r>
              <a:rPr sz="1300" b="1">
                <a:solidFill>
                  <a:srgbClr val="5B6472"/>
                </a:solidFill>
                <a:latin typeface="Consolas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12080" y="5276088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21808" y="5349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光寶科　</a:t>
            </a:r>
            <a:r>
              <a:rPr sz="1050" b="0">
                <a:solidFill>
                  <a:srgbClr val="5B6472"/>
                </a:solidFill>
                <a:latin typeface="Consolas"/>
              </a:rPr>
              <a:t>2301　</a:t>
            </a:r>
            <a:r>
              <a:rPr sz="1300" b="1">
                <a:solidFill>
                  <a:srgbClr val="5B6472"/>
                </a:solidFill>
                <a:latin typeface="Consolas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24928" y="5276088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34656" y="5349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環球晶　</a:t>
            </a:r>
            <a:r>
              <a:rPr sz="1050" b="0">
                <a:solidFill>
                  <a:srgbClr val="5B6472"/>
                </a:solidFill>
                <a:latin typeface="Consolas"/>
              </a:rPr>
              <a:t>6488　</a:t>
            </a:r>
            <a:r>
              <a:rPr sz="1300" b="1">
                <a:solidFill>
                  <a:srgbClr val="5B6472"/>
                </a:solidFill>
                <a:latin typeface="Consolas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7776" y="5276088"/>
            <a:ext cx="204825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47504" y="5349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華星光　</a:t>
            </a:r>
            <a:r>
              <a:rPr sz="1050" b="0">
                <a:solidFill>
                  <a:srgbClr val="5B6472"/>
                </a:solidFill>
                <a:latin typeface="Consolas"/>
              </a:rPr>
              <a:t>4979　</a:t>
            </a:r>
            <a:r>
              <a:rPr sz="1300" b="1">
                <a:solidFill>
                  <a:srgbClr val="5B6472"/>
                </a:solidFill>
                <a:latin typeface="Consolas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天數為五個交易日內被列入「一致看多」章節的次數，非漲跌統計。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看空與風險標的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"/>
            <a:ext cx="37975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週內唯一方向反轉的族群，在這一頁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325880"/>
            <a:ext cx="38100" cy="274320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98448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01828"/>
                </a:solidFill>
                <a:latin typeface="Microsoft JhengHei"/>
              </a:rPr>
              <a:t>貨櫃航運：一週內從共識看多翻成共識看空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783080"/>
            <a:ext cx="5577840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783080"/>
            <a:ext cx="38100" cy="1078992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92938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1121F"/>
                </a:solidFill>
                <a:latin typeface="Consolas"/>
              </a:rPr>
              <a:t>08/24–25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1911096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C1121F"/>
                </a:solidFill>
                <a:latin typeface="Microsoft JhengHei"/>
              </a:rPr>
              <a:t>看多　</a:t>
            </a:r>
            <a:r>
              <a:rPr sz="1250">
                <a:solidFill>
                  <a:srgbClr val="101828"/>
                </a:solidFill>
                <a:latin typeface="Microsoft JhengHei"/>
              </a:rPr>
              <a:t>林漢偉、張林忠、老王 —— 塞港短期無解、低本益比高殖利率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Microsoft JhengHei"/>
              </a:rPr>
              <a:t>郭哲榮同期一路看空，認為與 AI 無關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971800"/>
            <a:ext cx="5577840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" y="2971800"/>
            <a:ext cx="38100" cy="1078992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11810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A55"/>
                </a:solidFill>
                <a:latin typeface="Consolas"/>
              </a:rPr>
              <a:t>08/26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099816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F7A55"/>
                </a:solidFill>
                <a:latin typeface="Microsoft JhengHei"/>
              </a:rPr>
              <a:t>翻空　</a:t>
            </a:r>
            <a:r>
              <a:rPr sz="1250">
                <a:solidFill>
                  <a:srgbClr val="101828"/>
                </a:solidFill>
                <a:latin typeface="Microsoft JhengHei"/>
              </a:rPr>
              <a:t>萊茵河水位回升、歐線期貨大跌，林漢偉當日「全數出清」，與郭哲榮、容逸燊形成一致看空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Microsoft JhengHei"/>
              </a:rPr>
              <a:t>同日萬海（2615）、長榮（2603）被列入一致看空個股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160520"/>
            <a:ext cx="5577840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4160520"/>
            <a:ext cx="38100" cy="78638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B6472"/>
                </a:solidFill>
                <a:latin typeface="Consolas"/>
              </a:rPr>
              <a:t>08/27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288536"/>
            <a:ext cx="4114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5B6472"/>
                </a:solidFill>
                <a:latin typeface="Microsoft JhengHei"/>
              </a:rPr>
              <a:t>中性　</a:t>
            </a:r>
            <a:r>
              <a:rPr sz="1250">
                <a:solidFill>
                  <a:srgbClr val="101828"/>
                </a:solidFill>
                <a:latin typeface="Microsoft JhengHei"/>
              </a:rPr>
              <a:t>陳昆仁僅視為非 AI 的強勢概念股，低進高出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502920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472"/>
                </a:solidFill>
                <a:latin typeface="Microsoft JhengHei"/>
              </a:rPr>
              <a:t>同一族群、同一位分析師，兩天內方向相反 —— 這是逐日摘要才看得出來的東西。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325880"/>
            <a:ext cx="38100" cy="27432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1298448"/>
            <a:ext cx="51691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01828"/>
                </a:solidFill>
                <a:latin typeface="Microsoft JhengHei"/>
              </a:rPr>
              <a:t>欣興（3037）：週五爆出的個股事件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783080"/>
            <a:ext cx="5169103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1696" y="1956816"/>
            <a:ext cx="4730191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101828"/>
                </a:solidFill>
                <a:latin typeface="Microsoft JhengHei"/>
              </a:rPr>
              <a:t>兩名副總與一名會計遭檢調帶走，搜索規模大，引發內控與治理爭議。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0F7A55"/>
                </a:solidFill>
                <a:latin typeface="Microsoft JhengHei"/>
              </a:rPr>
              <a:t>看空者：陳昆仁、黃豐凱、郭哲榮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黃豐凱：投信高持股且週五來不及調節，預估跌至 900–1,000 元；資金可能轉單至景碩（3189）避險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郭哲榮：若僅個人內線是一天反應；若涉及假帳、營收灌水，可能連續跌停兩至三根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5169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2340"/>
                </a:solidFill>
                <a:latin typeface="Microsoft JhengHei"/>
              </a:rPr>
              <a:t>其他看空項目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224528"/>
            <a:ext cx="516910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93408" y="4334256"/>
            <a:ext cx="47667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01828"/>
                </a:solidFill>
                <a:latin typeface="Microsoft JhengHei"/>
              </a:rPr>
              <a:t>消費性電子　</a:t>
            </a:r>
            <a:r>
              <a:rPr sz="1200">
                <a:solidFill>
                  <a:srgbClr val="101828"/>
                </a:solidFill>
                <a:latin typeface="Microsoft JhengHei"/>
              </a:rPr>
              <a:t>漲價壓力侵蝕購買力、拉貨不積極（容逸燊、游庭皓、蔚辰）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901184"/>
            <a:ext cx="5169103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5010912"/>
            <a:ext cx="476676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01828"/>
                </a:solidFill>
                <a:latin typeface="Microsoft JhengHei"/>
              </a:rPr>
              <a:t>成熟製程晶圓代工　</a:t>
            </a:r>
            <a:r>
              <a:rPr sz="1200">
                <a:solidFill>
                  <a:srgbClr val="101828"/>
                </a:solidFill>
                <a:latin typeface="Microsoft JhengHei"/>
              </a:rPr>
              <a:t>老王、郭哲榮、陳昆仁、祥維看空；容逸燊、黃豐凱在 08/28 看多聯電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1121F"/>
                </a:solidFill>
                <a:latin typeface="Microsoft JhengHei"/>
              </a:rPr>
              <a:t>全週未收斂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個股事件為節目中的轉述，法律程序與後續發展未在來源中確認。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貫穿整週的分歧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"/>
            <a:ext cx="37975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分歧比共識更值得記，因為下週會由其中一方勝出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B6472"/>
                </a:solidFill>
                <a:latin typeface="Microsoft JhengHei"/>
              </a:rPr>
              <a:t>議題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6352" y="12801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1121F"/>
                </a:solidFill>
                <a:latin typeface="Microsoft JhengHei"/>
              </a:rPr>
              <a:t>一方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9792" y="1280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A55"/>
                </a:solidFill>
                <a:latin typeface="Microsoft JhengHei"/>
              </a:rPr>
              <a:t>另一方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572768"/>
            <a:ext cx="11130991" cy="2540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737360"/>
            <a:ext cx="11130991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920240"/>
            <a:ext cx="19202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01828"/>
                </a:solidFill>
                <a:latin typeface="Microsoft JhengHei"/>
              </a:rPr>
              <a:t>矽晶圓基本面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1737360"/>
            <a:ext cx="38100" cy="859536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901952"/>
            <a:ext cx="42976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郭哲榮、劉育綸：現貨雙位數大漲、產能滿載、合約洽談中，17 天內信號全面轉正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88352" y="1737360"/>
            <a:ext cx="38100" cy="859536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901952"/>
            <a:ext cx="39776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蔡明翰：營收與獲利在所有族群中最弱，純屬預期，拉回「絕對不要向下攤平」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2706624"/>
            <a:ext cx="11130991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889504"/>
            <a:ext cx="19202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01828"/>
                </a:solidFill>
                <a:latin typeface="Microsoft JhengHei"/>
              </a:rPr>
              <a:t>高檔熱門股要不要追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2706624"/>
            <a:ext cx="38100" cy="859536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62656" y="2871216"/>
            <a:ext cx="42976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林漢偉：順著強勢產業趨勢做，領頭羊先創高，背後有大資金帶動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88352" y="2706624"/>
            <a:ext cx="38100" cy="859536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2871216"/>
            <a:ext cx="39776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容逸燊：聯亞、大立光短線已拉數根漲停，賺賠比不划算，轉向低位階個股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3675888"/>
            <a:ext cx="11130991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858768"/>
            <a:ext cx="19202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01828"/>
                </a:solidFill>
                <a:latin typeface="Microsoft JhengHei"/>
              </a:rPr>
              <a:t>國巨（2327）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Microsoft JhengHei"/>
              </a:rPr>
              <a:t>被動元件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61488" y="3675888"/>
            <a:ext cx="38100" cy="859536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62656" y="3840480"/>
            <a:ext cx="42976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郭哲榮：1,000 元以上有 30 萬人套牢，反覆洗盤，拉回即買點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88352" y="3675888"/>
            <a:ext cx="38100" cy="859536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3840480"/>
            <a:ext cx="39776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老王、劉育綸（08/25）：跌破三短均線「三聲無奈」，土洋同賣、散戶攤平為反指標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" y="4645152"/>
            <a:ext cx="11130991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828032"/>
            <a:ext cx="19202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01828"/>
                </a:solidFill>
                <a:latin typeface="Microsoft JhengHei"/>
              </a:rPr>
              <a:t>記憶體的政治風險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1488" y="4645152"/>
            <a:ext cx="38100" cy="859536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4809744"/>
            <a:ext cx="42976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林漢偉、高憲容：輝達親口證實記憶體極度缺貨，外資單月敲進逾 10 萬張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88352" y="4645152"/>
            <a:ext cx="38100" cy="859536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4809744"/>
            <a:ext cx="39776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陳昆仁：9/24 川習會若美方對中國記憶體鬆綁，南亞科、華邦電、旺宏恐重挫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" y="5806440"/>
            <a:ext cx="128016" cy="128016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574243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8"/>
                </a:solidFill>
                <a:latin typeface="Microsoft JhengHei"/>
              </a:rPr>
              <a:t>被動元件是唯一在週內收斂的分歧：08/25 還在吵，08/28 變成當日看多人數最多的族群。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分歧雙方的敘述均取自各自節目，未做對錯判定。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下週起的關鍵時程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"/>
            <a:ext cx="37975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節目中被點名的日期，依時間排序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298448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298448"/>
            <a:ext cx="38100" cy="484632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264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1121F"/>
                </a:solidFill>
                <a:latin typeface="Consolas"/>
              </a:rPr>
              <a:t>08/31 (一)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1992" y="14173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MSCI 季度調整生效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1435608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林漢偉：補量關鍵日，預估成交量 1.1 至 1.2 兆元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851660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1851660"/>
            <a:ext cx="38100" cy="484632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796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1121F"/>
                </a:solidFill>
                <a:latin typeface="Consolas"/>
              </a:rPr>
              <a:t>08/31 (一)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1970532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矽光子國際論壇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988820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陳昆仁：CPO 商轉元年，提前布局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2404872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2404872"/>
            <a:ext cx="38100" cy="484632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5328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2340"/>
                </a:solidFill>
                <a:latin typeface="Consolas"/>
              </a:rPr>
              <a:t>09/02–04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2" y="252374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台北國際半導體展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0992" y="2542032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陳昆仁、容逸燊、陳唯泰：設備與 CPO 族群題材期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2958084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" y="2958084"/>
            <a:ext cx="38100" cy="484632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0861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2340"/>
                </a:solidFill>
                <a:latin typeface="Consolas"/>
              </a:rPr>
              <a:t>09/03 (四)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1992" y="3076956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中光電投控（3718）換股掛牌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992" y="3095244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鍾國忠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3511296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0352" y="3511296"/>
            <a:ext cx="38100" cy="484632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3931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2340"/>
                </a:solidFill>
                <a:latin typeface="Consolas"/>
              </a:rPr>
              <a:t>09/09 (三)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21992" y="3630168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美國財政部加倍美債回購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992" y="3648456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游庭皓、林漢偉：等同變相寬鬆，利於台幣升值與外資回流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4064508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0352" y="4064508"/>
            <a:ext cx="38100" cy="484632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1925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2340"/>
                </a:solidFill>
                <a:latin typeface="Consolas"/>
              </a:rPr>
              <a:t>09/10 (四)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21992" y="418338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蘋果 iPhone 18 系列與折疊機發表會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201668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林漢偉、陳昆仁、陳唯泰：光學、折疊機鉸鏈、軸承族群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4617720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0352" y="4617720"/>
            <a:ext cx="38100" cy="484632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457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2340"/>
                </a:solidFill>
                <a:latin typeface="Consolas"/>
              </a:rPr>
              <a:t>09/15 (二)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21992" y="4736592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台北航太展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50992" y="4754880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鍾國忠：無人機預算商機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" y="5170932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0352" y="5170932"/>
            <a:ext cx="38100" cy="484632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2989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7A55"/>
                </a:solidFill>
                <a:latin typeface="Consolas"/>
              </a:rPr>
              <a:t>09/24 (四)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21992" y="528980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川習會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50992" y="5308092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游庭皓、陳昆仁：記憶體與關稅的政治風險點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0352" y="5724144"/>
            <a:ext cx="11130991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30352" y="5724144"/>
            <a:ext cx="38100" cy="4846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852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B6472"/>
                </a:solidFill>
                <a:latin typeface="Microsoft JhengHei"/>
              </a:rPr>
              <a:t>九月內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21992" y="5843016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投信季底作帳、Fed 會議、日銀升息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0992" y="5861304"/>
            <a:ext cx="5852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王建文、紀緯明、鍾國忠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日期以節目中所述為準；跨日出現差異者取最後一次提及的版本。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下週判斷：多空兩邊各自的條件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"/>
            <a:ext cx="37975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FB3CC"/>
                </a:solidFill>
                <a:latin typeface="Microsoft JhengHei"/>
              </a:rPr>
              <a:t>沒有結論，只有各自畫出來的線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298448"/>
            <a:ext cx="5532120" cy="38404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偏多方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755648"/>
            <a:ext cx="553212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65376"/>
            <a:ext cx="512978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林漢偉　</a:t>
            </a:r>
            <a:r>
              <a:rPr sz="1150">
                <a:solidFill>
                  <a:srgbClr val="C1121F"/>
                </a:solidFill>
                <a:latin typeface="Microsoft JhengHei"/>
              </a:rPr>
              <a:t>看多／信心高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站穩 46,325 點，均線重回多頭排列，九月第一週有機會突破 48,218 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487168"/>
            <a:ext cx="553212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512978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高憲容　</a:t>
            </a:r>
            <a:r>
              <a:rPr sz="1150">
                <a:solidFill>
                  <a:srgbClr val="C1121F"/>
                </a:solidFill>
                <a:latin typeface="Microsoft JhengHei"/>
              </a:rPr>
              <a:t>看多／信心高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台幣轉升 ＋ 外資史上最大買超，依 2022/11、2023/11、2025/5 三次經驗，可啟動 7–10 個月、漲幅 38%–105% 的波段，台股看 54,000 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401568"/>
            <a:ext cx="553212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11296"/>
            <a:ext cx="512978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郭哲榮　</a:t>
            </a:r>
            <a:r>
              <a:rPr sz="1150">
                <a:solidFill>
                  <a:srgbClr val="C1121F"/>
                </a:solidFill>
                <a:latin typeface="Microsoft JhengHei"/>
              </a:rPr>
              <a:t>看多／信心高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下週被動元件大補漲；年底看 5 萬點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33088"/>
            <a:ext cx="553212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42816"/>
            <a:ext cx="512978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容逸燊　</a:t>
            </a:r>
            <a:r>
              <a:rPr sz="1150">
                <a:solidFill>
                  <a:srgbClr val="C1121F"/>
                </a:solidFill>
                <a:latin typeface="Microsoft JhengHei"/>
              </a:rPr>
              <a:t>看多／信心高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九月資金轉向低基期的工具機、被動元件、成熟製程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1298448"/>
            <a:ext cx="5532120" cy="384048"/>
          </a:xfrm>
          <a:prstGeom prst="rect">
            <a:avLst/>
          </a:prstGeom>
          <a:solidFill>
            <a:srgbClr val="0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371600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偏空與保留方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1755648"/>
            <a:ext cx="553212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865376"/>
            <a:ext cx="512978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鍾國忠　</a:t>
            </a:r>
            <a:r>
              <a:rPr sz="1150">
                <a:solidFill>
                  <a:srgbClr val="0F7A55"/>
                </a:solidFill>
                <a:latin typeface="Microsoft JhengHei"/>
              </a:rPr>
              <a:t>偏空／信心中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46,350 點以上追高將面臨巨大賣壓，需 1.1 兆換手量；建議逢高減碼、保留現金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4" y="2670048"/>
            <a:ext cx="553212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779776"/>
            <a:ext cx="512978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囿羽　</a:t>
            </a:r>
            <a:r>
              <a:rPr sz="1150">
                <a:solidFill>
                  <a:srgbClr val="0F7A55"/>
                </a:solidFill>
                <a:latin typeface="Microsoft JhengHei"/>
              </a:rPr>
              <a:t>偏多／信心中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量能與 KD 雙背離、季線仍下彎、下週布林通道高檔收窄，觀察日 KD 能否化解背離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4" y="3584448"/>
            <a:ext cx="553212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694176"/>
            <a:ext cx="512978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劉育綸　</a:t>
            </a:r>
            <a:r>
              <a:rPr sz="1150">
                <a:solidFill>
                  <a:srgbClr val="0F7A55"/>
                </a:solidFill>
                <a:latin typeface="Microsoft JhengHei"/>
              </a:rPr>
              <a:t>中性／信心中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若跌破當日低點，將進入 44,200–46,400 點的箱型整理，「創高不追、回落敢買」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4" y="4498848"/>
            <a:ext cx="553212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4608576"/>
            <a:ext cx="512978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828"/>
                </a:solidFill>
                <a:latin typeface="Microsoft JhengHei"/>
              </a:rPr>
              <a:t>陳昆仁　</a:t>
            </a:r>
            <a:r>
              <a:rPr sz="1150">
                <a:solidFill>
                  <a:srgbClr val="0F7A55"/>
                </a:solidFill>
                <a:latin typeface="Microsoft JhengHei"/>
              </a:rPr>
              <a:t>偏多／信心中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前波七月套牢量大，短線有震盪與獲利了結賣壓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0991" cy="1060704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358384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多空雙方其實在講同一件事：量。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10912" y="5358384"/>
            <a:ext cx="25400" cy="786384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38928" y="5358384"/>
            <a:ext cx="1517904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8,500 億–1 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FB3CC"/>
                </a:solidFill>
                <a:latin typeface="Microsoft JhengHei"/>
              </a:rPr>
              <a:t>劉育綸　進攻訊號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02552" y="5358384"/>
            <a:ext cx="25400" cy="786384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30568" y="5358384"/>
            <a:ext cx="1517904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1.1 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FB3CC"/>
                </a:solidFill>
                <a:latin typeface="Microsoft JhengHei"/>
              </a:rPr>
              <a:t>鍾國忠　換手門檻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94192" y="5358384"/>
            <a:ext cx="25400" cy="786384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22208" y="5358384"/>
            <a:ext cx="1517904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1.1–1.2 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FB3CC"/>
                </a:solidFill>
                <a:latin typeface="Microsoft JhengHei"/>
              </a:rPr>
              <a:t>林漢偉　MSCI 補量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85832" y="5358384"/>
            <a:ext cx="25400" cy="786384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3848" y="5358384"/>
            <a:ext cx="1517904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1.2 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FB3CC"/>
                </a:solidFill>
                <a:latin typeface="Microsoft JhengHei"/>
              </a:rPr>
              <a:t>容逸燊　站穩新高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態度與信心（看多／偏多／中性／偏空／看空、高／中／低）為來源摘要中的原始標註。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1121F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資料來源與整理原則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98448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C2340"/>
                </a:solidFill>
                <a:latin typeface="Microsoft JhengHei"/>
              </a:rPr>
              <a:t>來源檔案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664208"/>
            <a:ext cx="553212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0512"/>
            <a:ext cx="509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01828"/>
                </a:solidFill>
                <a:latin typeface="Consolas"/>
              </a:rPr>
              <a:t>Stock_Summary/20260824_StockSummary.txt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472"/>
                </a:solidFill>
                <a:latin typeface="Consolas"/>
              </a:rPr>
              <a:t>…　20260825　20260826　20260827　…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01828"/>
                </a:solidFill>
                <a:latin typeface="Consolas"/>
              </a:rPr>
              <a:t>Stock_Summary/20260828_StockSummary.txt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2"/>
                </a:solidFill>
                <a:latin typeface="Microsoft JhengHei"/>
              </a:rPr>
              <a:t>每份為當日多支財經節目的彙整摘要，五份合計約 12 萬字。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0632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C2340"/>
                </a:solidFill>
                <a:latin typeface="Microsoft JhengHei"/>
              </a:rPr>
              <a:t>整理原則（沿用同一份摘要規則書）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3429000"/>
            <a:ext cx="5532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538728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只寫來源明確講過的內容，不推論、不補充來源之外的知識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931920"/>
            <a:ext cx="5532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41648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每一條都標明是哪位分析師講的；同一人在多個頻道發言合併計算一次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4434840"/>
            <a:ext cx="5532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44568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態度只用看多／偏多／中性／偏空／看空五個詞，信心分高／中／低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4937760"/>
            <a:ext cx="5532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來源未查證的股名或代號一律保留「待確認」，不憑印象補上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1298448"/>
            <a:ext cx="5388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1121F"/>
                </a:solidFill>
                <a:latin typeface="Microsoft JhengHei"/>
              </a:rPr>
              <a:t>已知的來源限制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1664208"/>
            <a:ext cx="5388559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2784" y="1664208"/>
            <a:ext cx="38100" cy="65836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92224"/>
            <a:ext cx="4949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08/28 的來源檔在最後一位分析師的個股段落中斷（新盛力 3211 之後無內容），該段未納入本簡報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2414016"/>
            <a:ext cx="5388559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2784" y="2414016"/>
            <a:ext cx="38100" cy="65836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542032"/>
            <a:ext cx="4949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來源檔在 08/25 寫「蔡明漢」、08/26 寫「蔡明翰」，經確認為同一人，正確為蔡明翰，本簡報已統一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4" y="3163824"/>
            <a:ext cx="5388559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2784" y="3163824"/>
            <a:ext cx="38100" cy="65836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291840"/>
            <a:ext cx="4949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01828"/>
                </a:solidFill>
                <a:latin typeface="Microsoft JhengHei"/>
              </a:rPr>
              <a:t>指數、成交量、財務數字均為節目中所述，未另行向公開資訊源查證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2784" y="4114800"/>
            <a:ext cx="5388559" cy="160020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10528" y="4352544"/>
            <a:ext cx="128016" cy="128016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4279392"/>
            <a:ext cx="4657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本簡報為節目內容整理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FFD9DC"/>
                </a:solidFill>
                <a:latin typeface="Microsoft JhengHei"/>
              </a:rPr>
              <a:t>不構成任何投資建議。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FB3CC"/>
                </a:solidFill>
                <a:latin typeface="Microsoft JhengHei"/>
              </a:rPr>
              <a:t>內容為講者說法的轉述，非整理者的看法。投資決策請自行查證並承擔風險。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382512"/>
            <a:ext cx="111309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Microsoft JhengHei"/>
              </a:rPr>
              <a:t>2026/08/24 – 08/28　台股財經節目週摘要　·　Generated with Claude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