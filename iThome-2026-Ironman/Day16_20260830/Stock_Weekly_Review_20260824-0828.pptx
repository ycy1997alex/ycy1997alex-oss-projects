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960120"/>
            <a:ext cx="438912" cy="508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7782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W E E K L Y   M A R K E T   R E V I E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6304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5000" b="1">
                <a:solidFill>
                  <a:srgbClr val="FFFFFF"/>
                </a:solidFill>
                <a:latin typeface="Microsoft JhengHei"/>
              </a:rPr>
              <a:t>台股財經節目週摘要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onsolas"/>
              </a:rPr>
              <a:t>2026 / 08 / 24  —  08 / 30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7D5E5"/>
                </a:solidFill>
                <a:latin typeface="Microsoft JhengHei"/>
              </a:rPr>
              <a:t>上週回顧　×　下週判斷　（含 08/29–08/30 週末節目）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416052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7E95AF"/>
                </a:solidFill>
                <a:latin typeface="Microsoft JhengHei"/>
              </a:rPr>
              <a:t>來源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Consolas"/>
              </a:rPr>
              <a:t>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5E5"/>
                </a:solidFill>
                <a:latin typeface="Microsoft JhengHei"/>
              </a:rPr>
              <a:t>份摘要檔：五個交易日 ＋ 週末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4160520"/>
            <a:ext cx="2651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7E95AF"/>
                </a:solidFill>
                <a:latin typeface="Microsoft JhengHei"/>
              </a:rPr>
              <a:t>涵蓋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Consolas"/>
              </a:rPr>
              <a:t>約 30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7D5E5"/>
                </a:solidFill>
                <a:latin typeface="Microsoft JhengHei"/>
              </a:rPr>
              <a:t>位分析師的發言，逐日彙整後跨日比對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60520"/>
            <a:ext cx="12700" cy="1143000"/>
          </a:xfrm>
          <a:prstGeom prst="rect">
            <a:avLst/>
          </a:prstGeom>
          <a:solidFill>
            <a:srgbClr val="2B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416052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7E95AF"/>
                </a:solidFill>
                <a:latin typeface="Microsoft JhengHei"/>
              </a:rPr>
              <a:t>整理原則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4EAF1"/>
                </a:solidFill>
                <a:latin typeface="Microsoft JhengHei"/>
              </a:rPr>
              <a:t>只轉述節目講過的內容，不加入整理者自己的判斷；每一條都標示是哪位分析師講的；查不到的股名與代號標「待確認」。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5779008"/>
            <a:ext cx="11130991" cy="12700"/>
          </a:xfrm>
          <a:prstGeom prst="rect">
            <a:avLst/>
          </a:prstGeom>
          <a:solidFill>
            <a:srgbClr val="2B4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6035040"/>
            <a:ext cx="128016" cy="128016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96188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9DC"/>
                </a:solidFill>
                <a:latin typeface="Microsoft JhengHei"/>
              </a:rPr>
              <a:t>本簡報為節目內容整理，不構成任何投資建議。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167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E95AF"/>
                </a:solidFill>
                <a:latin typeface="Microsoft JhengHei"/>
              </a:rPr>
              <a:t>Generated with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121F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上週指數軌跡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"/>
            <a:ext cx="3797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先看發生了什麼，再看誰講對了什麼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298448"/>
          <a:ext cx="11128248" cy="3035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/>
                <a:gridCol w="2331720"/>
                <a:gridCol w="2377440"/>
                <a:gridCol w="5093208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日期</a:t>
                      </a:r>
                    </a:p>
                  </a:txBody>
                  <a:tcPr marL="91440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收盤／變動</a:t>
                      </a:r>
                    </a:p>
                  </a:txBody>
                  <a:tcPr marL="91440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成交量</a:t>
                      </a:r>
                    </a:p>
                  </a:txBody>
                  <a:tcPr marL="91440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當日主軸</a:t>
                      </a:r>
                    </a:p>
                  </a:txBody>
                  <a:tcPr marL="91440" marR="73152" marT="27432" marB="27432" anchor="ctr">
                    <a:solidFill>
                      <a:srgbClr val="0C23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01828"/>
                          </a:solidFill>
                          <a:latin typeface="Consolas"/>
                        </a:rPr>
                        <a:t>08/24 (一)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7A55"/>
                          </a:solidFill>
                          <a:latin typeface="Consolas"/>
                        </a:rPr>
                        <a:t>44,762　-461 點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6,294 億（今年 4 月以來新低量）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極度觀望；矽晶圓全面漲價成為弱勢盤中亮點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01828"/>
                          </a:solidFill>
                          <a:latin typeface="Consolas"/>
                        </a:rPr>
                        <a:t>08/25 (二)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破底後尾盤大拉近千點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量縮觀望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44,000 點支撐守住，等輝達財報與 PCE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01828"/>
                          </a:solidFill>
                          <a:latin typeface="Consolas"/>
                        </a:rPr>
                        <a:t>08/26 (三)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1121F"/>
                          </a:solidFill>
                          <a:latin typeface="Consolas"/>
                        </a:rPr>
                        <a:t>+663 點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放大至 8,000 億以上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美債殖利率與油價大跌，資金回流電子；貨櫃航運重挫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01828"/>
                          </a:solidFill>
                          <a:latin typeface="Consolas"/>
                        </a:rPr>
                        <a:t>08/27 (四)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1121F"/>
                          </a:solidFill>
                          <a:latin typeface="Consolas"/>
                        </a:rPr>
                        <a:t>45,975　+142 點（收長上影線）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量能不足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輝達財報超標，盤中漲逾 500 點挑戰前高後收斂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01828"/>
                          </a:solidFill>
                          <a:latin typeface="Consolas"/>
                        </a:rPr>
                        <a:t>08/28 (五)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1121F"/>
                          </a:solidFill>
                          <a:latin typeface="Consolas"/>
                        </a:rPr>
                        <a:t>四天自低點累計 +2,300 點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突破兆元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外資 8 月買超 3,707 億元創單月新高，台幣升至 31.57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01828"/>
                          </a:solidFill>
                          <a:latin typeface="Consolas"/>
                        </a:rPr>
                        <a:t>08/29–30 週末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7A55"/>
                          </a:solidFill>
                          <a:latin typeface="Consolas"/>
                        </a:rPr>
                        <a:t>台指期夜盤急跌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8 月月成交量 17 兆（7 月 21 兆）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華許央行年會放鷹，9 月升息機率跳升，美股四大指數同步下跌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0352" y="4443984"/>
            <a:ext cx="11130991" cy="128016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590288"/>
            <a:ext cx="106189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週一恐慌新低量　→　週二尾盤反攻　→　週三資金回流電子　→　週四輝達利多但收上影線　→　週五量能過兆　→　週末利率翻鷹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7D5E5"/>
                </a:solidFill>
                <a:latin typeface="Microsoft JhengHei"/>
              </a:rPr>
              <a:t>陳昆仁在週一即指出「新低量不等於新低價」，是主力量縮洗浮額，四天後大盤自低點漲逾 2,000 點；但週末華許放鷹，把整週建立起來的降息預期又推翻一次。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382512"/>
            <a:ext cx="111309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Microsoft JhengHei"/>
              </a:rPr>
              <a:t>指數與量能數字均為節目中提及者，未經另行查證。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121F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總體環境：利率預期一週轉兩次向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"/>
            <a:ext cx="3797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週初壓抑、週三放鬆、週末翻鷹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98448"/>
            <a:ext cx="3675887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298448"/>
            <a:ext cx="3675887" cy="381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63040"/>
            <a:ext cx="323697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01828"/>
                </a:solidFill>
                <a:latin typeface="Microsoft JhengHei"/>
              </a:rPr>
              <a:t>美債與升息預期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週初 10 年期 4.73%、30 年期 5.27%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週三：財政部擴大回購，殖利率下滑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C1121F"/>
                </a:solidFill>
                <a:latin typeface="Microsoft JhengHei"/>
              </a:rPr>
              <a:t>↑　週末翻鷹：9 月升息機率 35% → 60%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華許在央行年會演說偏鷹，兩年期美債殖利率跳升 11 個基點；陳昆仁稱市場已定價 57%。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林漢偉、陳昆仁、蔡明翰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298448"/>
            <a:ext cx="3675887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298448"/>
            <a:ext cx="3675887" cy="38100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63040"/>
            <a:ext cx="323697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01828"/>
                </a:solidFill>
                <a:latin typeface="Microsoft JhengHei"/>
              </a:rPr>
              <a:t>油價與通膨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7 月 PCE 年增 3.7%、核心 3.3%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與 6 月持平，通膨具黏滯性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0F7A55"/>
                </a:solidFill>
                <a:latin typeface="Microsoft JhengHei"/>
              </a:rPr>
              <a:t>↓　布蘭特原油單日大跌約 4%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伊朗與阿曼協商重啟霍爾木茲海峽航道；但通膨黏性未解，仍是升息的理由。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林漢偉、劉育綸、蔚辰、蔡明翰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98448"/>
            <a:ext cx="3675887" cy="2615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98448"/>
            <a:ext cx="3675887" cy="381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463040"/>
            <a:ext cx="323697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01828"/>
                </a:solidFill>
                <a:latin typeface="Microsoft JhengHei"/>
              </a:rPr>
              <a:t>匯率與外資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週初外資大舉匯出 280 億美元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>
                <a:solidFill>
                  <a:srgbClr val="C1121F"/>
                </a:solidFill>
                <a:latin typeface="Microsoft JhengHei"/>
              </a:rPr>
              <a:t>↑　台幣升至 31.57，8 月升幅近 2%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外資 8 月買超 3,707 億元創史上單月最高；但台幣急升同時衝擊出口商第三季利潤。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容逸燊、高憲容、鍾國忠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4114800"/>
            <a:ext cx="11130991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" y="4114800"/>
            <a:ext cx="38100" cy="1627632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79392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2340"/>
                </a:solidFill>
                <a:latin typeface="Microsoft JhengHei"/>
              </a:rPr>
              <a:t>週末補充：長天期美債與貶值交易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626864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JhengHei"/>
              </a:rPr>
              <a:t>30 年期美債殖利率突破 5.2%，期限溢價上升，反映市場擔心長債缺乏買家；科技巨頭為 AI 資本支出發債，7 月前已達 5,000 億美元，稀釋美債買盤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Microsoft JhengHei"/>
              </a:rPr>
              <a:t>M 平方 Viv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4626864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JhengHei"/>
              </a:rPr>
              <a:t>黃金一個月漲 15%、比特幣三天漲 20%，風險與避險資產同漲，反映的是對美元的「貶值交易」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Microsoft JhengHei"/>
              </a:rPr>
              <a:t>M 平方 Viv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626864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01828"/>
                </a:solidFill>
                <a:latin typeface="Microsoft JhengHei"/>
              </a:rPr>
              <a:t>台灣 7 月工業生產創單月歷史新高、景氣燈號連八紅；大摩上修今年經濟成長率至 11.6%，為 40 年來最快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Microsoft JhengHei"/>
              </a:rPr>
              <a:t>蔚辰、游庭皓、胡睿涵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382512"/>
            <a:ext cx="111309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Microsoft JhengHei"/>
              </a:rPr>
              <a:t>以上為節目中提及的數據，未另行查證原始統計來源。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121F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一週共識：看多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"/>
            <a:ext cx="3797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以「六份摘要中有幾份把它列進『一致看多』」計算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0352" y="1298448"/>
          <a:ext cx="11128248" cy="2596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1737360"/>
                <a:gridCol w="6922008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產業／主題</a:t>
                      </a:r>
                    </a:p>
                  </a:txBody>
                  <a:tcPr marL="91440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份數</a:t>
                      </a:r>
                    </a:p>
                  </a:txBody>
                  <a:tcPr marL="91440" marR="73152" marT="27432" marB="27432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代表看多者</a:t>
                      </a:r>
                    </a:p>
                  </a:txBody>
                  <a:tcPr marL="91440" marR="73152" marT="27432" marB="27432" anchor="ctr">
                    <a:solidFill>
                      <a:srgbClr val="0C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01828"/>
                          </a:solidFill>
                          <a:latin typeface="Microsoft JhengHei"/>
                        </a:rPr>
                        <a:t>CPO 光通訊／矽光子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1121F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林漢偉、陳昆仁、劉育綸、容逸燊、黃豐凱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01828"/>
                          </a:solidFill>
                          <a:latin typeface="Microsoft JhengHei"/>
                        </a:rPr>
                        <a:t>ABF 載板／CCL／PCB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1121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林漢偉、劉育綸、陳於晨、陳威良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01828"/>
                          </a:solidFill>
                          <a:latin typeface="Microsoft JhengHei"/>
                        </a:rPr>
                        <a:t>記憶體／HBM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1121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林漢偉、陳昆仁、高憲容、老王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01828"/>
                          </a:solidFill>
                          <a:latin typeface="Microsoft JhengHei"/>
                        </a:rPr>
                        <a:t>半導體展與先進封裝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B6472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林漢偉、鍾國忠（週末新增，09/02 開展）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01828"/>
                          </a:solidFill>
                          <a:latin typeface="Microsoft JhengHei"/>
                        </a:rPr>
                        <a:t>被動元件／MLCC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B6472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郭哲榮、林漢偉、陳昆仁、鍾國忠、黃豐凱（08/28 才成形）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01828"/>
                          </a:solidFill>
                          <a:latin typeface="Microsoft JhengHei"/>
                        </a:rPr>
                        <a:t>矽晶圓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B6472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01828"/>
                          </a:solidFill>
                          <a:latin typeface="Microsoft JhengHei"/>
                        </a:rPr>
                        <a:t>林漢偉、陳昆仁、郭哲榮、楊雲翔、祥維（08/24，之後轉為分歧）</a:t>
                      </a:r>
                    </a:p>
                  </a:txBody>
                  <a:tcPr marL="91440" marR="73152" marT="27432" marB="27432"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319272" y="1728216"/>
            <a:ext cx="877824" cy="1016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9272" y="2112264"/>
            <a:ext cx="658368" cy="1016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2496312"/>
            <a:ext cx="658368" cy="1016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9272" y="2880360"/>
            <a:ext cx="219456" cy="101600"/>
          </a:xfrm>
          <a:prstGeom prst="rect">
            <a:avLst/>
          </a:prstGeom>
          <a:solidFill>
            <a:srgbClr val="E9B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3264408"/>
            <a:ext cx="219456" cy="101600"/>
          </a:xfrm>
          <a:prstGeom prst="rect">
            <a:avLst/>
          </a:prstGeom>
          <a:solidFill>
            <a:srgbClr val="E9B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3648456"/>
            <a:ext cx="219456" cy="101600"/>
          </a:xfrm>
          <a:prstGeom prst="rect">
            <a:avLst/>
          </a:prstGeom>
          <a:solidFill>
            <a:srgbClr val="E9B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4160520"/>
            <a:ext cx="11130991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343400"/>
            <a:ext cx="106189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2340"/>
                </a:solidFill>
                <a:latin typeface="Microsoft JhengHei"/>
              </a:rPr>
              <a:t>跨日重複出現的個股（數字為被列入一致看多的份數，共 6 份）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4800600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873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01828"/>
                </a:solidFill>
                <a:latin typeface="Microsoft JhengHei"/>
              </a:rPr>
              <a:t>大立光　</a:t>
            </a:r>
            <a:r>
              <a:rPr sz="1050" b="0">
                <a:solidFill>
                  <a:srgbClr val="5B6472"/>
                </a:solidFill>
                <a:latin typeface="Consolas"/>
              </a:rPr>
              <a:t>3008　</a:t>
            </a:r>
            <a:r>
              <a:rPr sz="1300" b="1">
                <a:solidFill>
                  <a:srgbClr val="C1121F"/>
                </a:solidFill>
                <a:latin typeface="Consola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9232" y="4800600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11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873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01828"/>
                </a:solidFill>
                <a:latin typeface="Microsoft JhengHei"/>
              </a:rPr>
              <a:t>南亞科　</a:t>
            </a:r>
            <a:r>
              <a:rPr sz="1050" b="0">
                <a:solidFill>
                  <a:srgbClr val="5B6472"/>
                </a:solidFill>
                <a:latin typeface="Consolas"/>
              </a:rPr>
              <a:t>2408　</a:t>
            </a:r>
            <a:r>
              <a:rPr sz="1300" b="1">
                <a:solidFill>
                  <a:srgbClr val="C1121F"/>
                </a:solidFill>
                <a:latin typeface="Consolas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4800600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B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4873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01828"/>
                </a:solidFill>
                <a:latin typeface="Microsoft JhengHei"/>
              </a:rPr>
              <a:t>聯亞　</a:t>
            </a:r>
            <a:r>
              <a:rPr sz="1050" b="0">
                <a:solidFill>
                  <a:srgbClr val="5B6472"/>
                </a:solidFill>
                <a:latin typeface="Consolas"/>
              </a:rPr>
              <a:t>3081　</a:t>
            </a:r>
            <a:r>
              <a:rPr sz="1300" b="1">
                <a:solidFill>
                  <a:srgbClr val="C1121F"/>
                </a:solidFill>
                <a:latin typeface="Consolas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4928" y="4800600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B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4873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01828"/>
                </a:solidFill>
                <a:latin typeface="Microsoft JhengHei"/>
              </a:rPr>
              <a:t>台積電　</a:t>
            </a:r>
            <a:r>
              <a:rPr sz="1050" b="0">
                <a:solidFill>
                  <a:srgbClr val="5B6472"/>
                </a:solidFill>
                <a:latin typeface="Consolas"/>
              </a:rPr>
              <a:t>2330　</a:t>
            </a:r>
            <a:r>
              <a:rPr sz="1300" b="1">
                <a:solidFill>
                  <a:srgbClr val="C1121F"/>
                </a:solidFill>
                <a:latin typeface="Consolas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4800600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9B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7504" y="4873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01828"/>
                </a:solidFill>
                <a:latin typeface="Microsoft JhengHei"/>
              </a:rPr>
              <a:t>聯電　</a:t>
            </a:r>
            <a:r>
              <a:rPr sz="1050" b="0">
                <a:solidFill>
                  <a:srgbClr val="5B6472"/>
                </a:solidFill>
                <a:latin typeface="Consolas"/>
              </a:rPr>
              <a:t>2303　</a:t>
            </a:r>
            <a:r>
              <a:rPr sz="1300" b="1">
                <a:solidFill>
                  <a:srgbClr val="C1121F"/>
                </a:solidFill>
                <a:latin typeface="Consolas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276088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349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01828"/>
                </a:solidFill>
                <a:latin typeface="Microsoft JhengHei"/>
              </a:rPr>
              <a:t>南電　</a:t>
            </a:r>
            <a:r>
              <a:rPr sz="1050" b="0">
                <a:solidFill>
                  <a:srgbClr val="5B6472"/>
                </a:solidFill>
                <a:latin typeface="Consolas"/>
              </a:rPr>
              <a:t>8046　</a:t>
            </a:r>
            <a:r>
              <a:rPr sz="1300" b="1">
                <a:solidFill>
                  <a:srgbClr val="5B6472"/>
                </a:solidFill>
                <a:latin typeface="Consolas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99232" y="5276088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5349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01828"/>
                </a:solidFill>
                <a:latin typeface="Microsoft JhengHei"/>
              </a:rPr>
              <a:t>景碩　</a:t>
            </a:r>
            <a:r>
              <a:rPr sz="1050" b="0">
                <a:solidFill>
                  <a:srgbClr val="5B6472"/>
                </a:solidFill>
                <a:latin typeface="Consolas"/>
              </a:rPr>
              <a:t>3189　</a:t>
            </a:r>
            <a:r>
              <a:rPr sz="1300" b="1">
                <a:solidFill>
                  <a:srgbClr val="5B6472"/>
                </a:solidFill>
                <a:latin typeface="Consolas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5276088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21808" y="5349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01828"/>
                </a:solidFill>
                <a:latin typeface="Microsoft JhengHei"/>
              </a:rPr>
              <a:t>華邦電　</a:t>
            </a:r>
            <a:r>
              <a:rPr sz="1050" b="0">
                <a:solidFill>
                  <a:srgbClr val="5B6472"/>
                </a:solidFill>
                <a:latin typeface="Consolas"/>
              </a:rPr>
              <a:t>2344　</a:t>
            </a:r>
            <a:r>
              <a:rPr sz="1300" b="1">
                <a:solidFill>
                  <a:srgbClr val="5B6472"/>
                </a:solidFill>
                <a:latin typeface="Consolas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24928" y="5276088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656" y="5349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01828"/>
                </a:solidFill>
                <a:latin typeface="Microsoft JhengHei"/>
              </a:rPr>
              <a:t>光寶科　</a:t>
            </a:r>
            <a:r>
              <a:rPr sz="1050" b="0">
                <a:solidFill>
                  <a:srgbClr val="5B6472"/>
                </a:solidFill>
                <a:latin typeface="Consolas"/>
              </a:rPr>
              <a:t>2301　</a:t>
            </a:r>
            <a:r>
              <a:rPr sz="1300" b="1">
                <a:solidFill>
                  <a:srgbClr val="5B6472"/>
                </a:solidFill>
                <a:latin typeface="Consolas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37776" y="5276088"/>
            <a:ext cx="2048256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47504" y="5349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01828"/>
                </a:solidFill>
                <a:latin typeface="Microsoft JhengHei"/>
              </a:rPr>
              <a:t>創意　</a:t>
            </a:r>
            <a:r>
              <a:rPr sz="1050" b="0">
                <a:solidFill>
                  <a:srgbClr val="5B6472"/>
                </a:solidFill>
                <a:latin typeface="Consolas"/>
              </a:rPr>
              <a:t>3443　</a:t>
            </a:r>
            <a:r>
              <a:rPr sz="1300" b="1">
                <a:solidFill>
                  <a:srgbClr val="5B6472"/>
                </a:solidFill>
                <a:latin typeface="Consola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6382512"/>
            <a:ext cx="111309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Microsoft JhengHei"/>
              </a:rPr>
              <a:t>份數為六份摘要中被列入「一致看多」章節的次數，非漲跌統計；個別分析師單獨看好不計入。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121F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看空與風險標的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"/>
            <a:ext cx="3797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週內唯一方向反轉的族群，在這一頁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38100" cy="274320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29844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1828"/>
                </a:solidFill>
                <a:latin typeface="Microsoft JhengHei"/>
              </a:rPr>
              <a:t>貨櫃航運：一週內從共識看多翻成共識看空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8308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783080"/>
            <a:ext cx="38100" cy="100584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938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1121F"/>
                </a:solidFill>
                <a:latin typeface="Consolas"/>
              </a:rPr>
              <a:t>08/24–25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911096"/>
            <a:ext cx="4114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1121F"/>
                </a:solidFill>
                <a:latin typeface="Microsoft JhengHei"/>
              </a:rPr>
              <a:t>看多　</a:t>
            </a:r>
            <a:r>
              <a:rPr sz="1250">
                <a:solidFill>
                  <a:srgbClr val="101828"/>
                </a:solidFill>
                <a:latin typeface="Microsoft JhengHei"/>
              </a:rPr>
              <a:t>林漢偉、張林忠、老王：塞港短期無解、低本益比高殖利率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郭哲榮同期一路看空，認為與 AI 無關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898648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2898648"/>
            <a:ext cx="38100" cy="1188720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44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A55"/>
                </a:solidFill>
                <a:latin typeface="Consolas"/>
              </a:rPr>
              <a:t>08/26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026664"/>
            <a:ext cx="41148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7A55"/>
                </a:solidFill>
                <a:latin typeface="Microsoft JhengHei"/>
              </a:rPr>
              <a:t>翻空　</a:t>
            </a:r>
            <a:r>
              <a:rPr sz="1250">
                <a:solidFill>
                  <a:srgbClr val="101828"/>
                </a:solidFill>
                <a:latin typeface="Microsoft JhengHei"/>
              </a:rPr>
              <a:t>萊茵河水位回升、歐線期貨大跌，林漢偉當日「全數出清」，與郭哲榮、容逸燊形成一致看空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同日萬海（2615）、長榮（2603）被列入一致看空個股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197096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4197096"/>
            <a:ext cx="38100" cy="1188720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3434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A55"/>
                </a:solidFill>
                <a:latin typeface="Consolas"/>
              </a:rPr>
              <a:t>08/28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4325112"/>
            <a:ext cx="41148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7A55"/>
                </a:solidFill>
                <a:latin typeface="Microsoft JhengHei"/>
              </a:rPr>
              <a:t>確認　</a:t>
            </a:r>
            <a:r>
              <a:rPr sz="1250">
                <a:solidFill>
                  <a:srgbClr val="101828"/>
                </a:solidFill>
                <a:latin typeface="Microsoft JhengHei"/>
              </a:rPr>
              <a:t>老王：成交量從 20 萬張乾涸到 4.5 萬張，融券連四天大回補，陽明、萬海、長榮三檔全數看空、信心高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「空頭投降、高點即現，多頭漲勢正式宣告結束」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48640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472"/>
                </a:solidFill>
                <a:latin typeface="Microsoft JhengHei"/>
              </a:rPr>
              <a:t>同一族群、同一位分析師，兩天內方向相反，這是逐日摘要才看得出來的東西。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325880"/>
            <a:ext cx="38100" cy="27432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1298448"/>
            <a:ext cx="51691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1828"/>
                </a:solidFill>
                <a:latin typeface="Microsoft JhengHei"/>
              </a:rPr>
              <a:t>欣興（3037）：週五爆出、週末才釐清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783080"/>
            <a:ext cx="5169103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1938528"/>
            <a:ext cx="4730191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08/28：兩名副總與一名會計遭檢調帶走，看空者陳昆仁、黃豐凱、郭哲榮；黃豐凱預估跌至 900–1,000 元。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1121F"/>
                </a:solidFill>
                <a:latin typeface="Microsoft JhengHei"/>
              </a:rPr>
              <a:t>週末釐清：涉嫌原產地標示不實（妨害農工商罪），不是做假帳，也不是洗產地。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陳昆仁改口：週一跌停很可能是相對低點，爆量或打開跌停反而是買點，轉單南電、景碩是假議題。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蔡明翰不同意：仍涉公司治理與財報可靠度，真相明朗前不加碼，持股逾一成應減碼。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69663"/>
            <a:ext cx="5169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C2340"/>
                </a:solidFill>
                <a:latin typeface="Microsoft JhengHei"/>
              </a:rPr>
              <a:t>其他看空項目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535424"/>
            <a:ext cx="5169103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4645152"/>
            <a:ext cx="47667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01828"/>
                </a:solidFill>
                <a:latin typeface="Microsoft JhengHei"/>
              </a:rPr>
              <a:t>9 月高本益比科技股　</a:t>
            </a:r>
            <a:r>
              <a:rPr sz="1200">
                <a:solidFill>
                  <a:srgbClr val="101828"/>
                </a:solidFill>
                <a:latin typeface="Microsoft JhengHei"/>
              </a:rPr>
              <a:t>利率走高壓抑估值（林漢偉、蔡明翰、鍾國忠）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1121F"/>
                </a:solidFill>
                <a:latin typeface="Microsoft JhengHei"/>
              </a:rPr>
              <a:t>週末新增的一致看空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5394960"/>
            <a:ext cx="5169103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5504688"/>
            <a:ext cx="47667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01828"/>
                </a:solidFill>
                <a:latin typeface="Microsoft JhengHei"/>
              </a:rPr>
              <a:t>成熟製程晶圓代工　</a:t>
            </a:r>
            <a:r>
              <a:rPr sz="1200">
                <a:solidFill>
                  <a:srgbClr val="101828"/>
                </a:solidFill>
                <a:latin typeface="Microsoft JhengHei"/>
              </a:rPr>
              <a:t>老王、郭哲榮、陳昆仁、祥維看空；容逸燊、黃豐凱看多聯電，週末林漢偉、陳昆仁也站到看多那邊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1121F"/>
                </a:solidFill>
                <a:latin typeface="Microsoft JhengHei"/>
              </a:rPr>
              <a:t>全週未收斂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382512"/>
            <a:ext cx="111309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Microsoft JhengHei"/>
              </a:rPr>
              <a:t>個股事件為節目中的轉述，法律程序與後續發展未在來源中確認。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121F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貫穿整週的分歧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"/>
            <a:ext cx="3797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分歧比共識更值得記，因為下週會由其中一方勝出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8016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6472"/>
                </a:solidFill>
                <a:latin typeface="Microsoft JhengHei"/>
              </a:rPr>
              <a:t>議題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6352" y="12801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1121F"/>
                </a:solidFill>
                <a:latin typeface="Microsoft JhengHei"/>
              </a:rPr>
              <a:t>一方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2801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A55"/>
                </a:solidFill>
                <a:latin typeface="Microsoft JhengHei"/>
              </a:rPr>
              <a:t>另一方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572768"/>
            <a:ext cx="11130991" cy="2540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1737360"/>
            <a:ext cx="11130991" cy="859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19202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01828"/>
                </a:solidFill>
                <a:latin typeface="Microsoft JhengHei"/>
              </a:rPr>
              <a:t>欣興（3037）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週末新增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1737360"/>
            <a:ext cx="38100" cy="859536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1901952"/>
            <a:ext cx="4297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陳昆仁：只是原產地標示不實，週一跌停很可能是相對低點，打開跌停反而是買點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88352" y="1737360"/>
            <a:ext cx="38100" cy="859536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901952"/>
            <a:ext cx="39776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蔡明翰：涉及公司治理與財報可靠度，真相明朗前不加碼，持股逾一成應減碼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706624"/>
            <a:ext cx="11130991" cy="859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889504"/>
            <a:ext cx="19202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01828"/>
                </a:solidFill>
                <a:latin typeface="Microsoft JhengHei"/>
              </a:rPr>
              <a:t>台幣升值的衝擊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週末新增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2706624"/>
            <a:ext cx="38100" cy="859536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62656" y="2871216"/>
            <a:ext cx="4297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林漢偉：基本面依然亮眼，7 月外銷訂單將破 1,000 億美元，8–10 月營收創高機會高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2706624"/>
            <a:ext cx="38100" cy="859536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871216"/>
            <a:ext cx="39776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鍾國忠：8 月台幣升值近 2%，衝擊第三季出口商利潤，9/10 公布的營收可能不如預期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675888"/>
            <a:ext cx="11130991" cy="859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858768"/>
            <a:ext cx="19202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01828"/>
                </a:solidFill>
                <a:latin typeface="Microsoft JhengHei"/>
              </a:rPr>
              <a:t>矽晶圓基本面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61488" y="3675888"/>
            <a:ext cx="38100" cy="859536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62656" y="3840480"/>
            <a:ext cx="4297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郭哲榮、劉育綸：現貨雙位數大漲、產能滿載、合約洽談中，17 天內信號全面轉正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3675888"/>
            <a:ext cx="38100" cy="859536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3840480"/>
            <a:ext cx="39776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蔡明翰：營收與獲利在所有族群中最弱，純屬預期，拉回「絕對不要向下攤平」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4645152"/>
            <a:ext cx="11130991" cy="859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828032"/>
            <a:ext cx="192024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01828"/>
                </a:solidFill>
                <a:latin typeface="Microsoft JhengHei"/>
              </a:rPr>
              <a:t>記憶體的政治風險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61488" y="4645152"/>
            <a:ext cx="38100" cy="859536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2656" y="4809744"/>
            <a:ext cx="4297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林漢偉、高憲容：輝達親口證實記憶體極度缺貨，外資單月敲進逾 10 萬張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88352" y="4645152"/>
            <a:ext cx="38100" cy="859536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4809744"/>
            <a:ext cx="39776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陳昆仁：9/24 川習會若美方對中國記憶體鬆綁，南亞科、華邦電、旺宏恐重挫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5806440"/>
            <a:ext cx="128016" cy="128016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742432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8"/>
                </a:solidFill>
                <a:latin typeface="Microsoft JhengHei"/>
              </a:rPr>
              <a:t>被動元件是唯一收斂掉的分歧：08/25 還在吵國巨，08/28 變成當日看多人數最多的族群；欣興則是反過來，從單向看空長出新的分歧。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382512"/>
            <a:ext cx="111309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Microsoft JhengHei"/>
              </a:rPr>
              <a:t>分歧雙方的敘述均取自各自節目，未做對錯判定。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121F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下週起的關鍵時程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"/>
            <a:ext cx="3797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節目中被點名的日期，依時間排序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98448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298448"/>
            <a:ext cx="38100" cy="484632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264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1121F"/>
                </a:solidFill>
                <a:latin typeface="Consolas"/>
              </a:rPr>
              <a:t>08/31 (一)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" y="141732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MSCI 季度調整生效 ＋ 放鷹後首個交易日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1435608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林漢偉：補量關鍵日，預估 1.1 至 1.2 兆元｜陳昆仁：多空爆量震盪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851660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1851660"/>
            <a:ext cx="38100" cy="484632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796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7A55"/>
                </a:solidFill>
                <a:latin typeface="Consolas"/>
              </a:rPr>
              <a:t>本週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197053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美國新增就業報告、超微與博通財報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1988820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蔡明翰：新增就業預估 6.5 萬人；博通若上修 TPU 訂單，利多台積電與聯發科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404872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2404872"/>
            <a:ext cx="38100" cy="484632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328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2340"/>
                </a:solidFill>
                <a:latin typeface="Consolas"/>
              </a:rPr>
              <a:t>09/02–04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2" y="252374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台北國際半導體展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992" y="2542032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林漢偉、陳昆仁、鍾國忠：設備、先進封裝與 CPO 題材期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958084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" y="2958084"/>
            <a:ext cx="38100" cy="484632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0861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2340"/>
                </a:solidFill>
                <a:latin typeface="Consolas"/>
              </a:rPr>
              <a:t>09/04 (五) 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2" y="307695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南亞科公布 8 月營收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3095244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林漢偉：記憶體現貨價走高，觀察營收能否對上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511296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3511296"/>
            <a:ext cx="38100" cy="484632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6393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2340"/>
                </a:solidFill>
                <a:latin typeface="Consolas"/>
              </a:rPr>
              <a:t>09/09 (三)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1992" y="3630168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美國財政部加倍美債回購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0992" y="3648456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游庭皓、林漢偉：等同變相寬鬆｜M 平方 Viv：對 40 兆美元債務規模是杯水車薪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4064508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4064508"/>
            <a:ext cx="38100" cy="484632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1925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C2340"/>
                </a:solidFill>
                <a:latin typeface="Consolas"/>
              </a:rPr>
              <a:t>09/10 (四)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1992" y="418338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蘋果發表會 ＋ 台廠 8 月營收公布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50992" y="4201668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林漢偉、鍾國忠：光學與折疊機族群；台幣升值的衝擊會在這天見真章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" y="4617720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0352" y="4617720"/>
            <a:ext cx="38100" cy="484632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457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7A55"/>
                </a:solidFill>
                <a:latin typeface="Consolas"/>
              </a:rPr>
              <a:t>09/24 (四)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21992" y="4736592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川習會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50992" y="4754880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游庭皓、陳昆仁：記憶體與關稅的政治風險點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5170932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0352" y="5170932"/>
            <a:ext cx="38100" cy="484632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2989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7A55"/>
                </a:solidFill>
                <a:latin typeface="Consolas"/>
              </a:rPr>
              <a:t>九月下旬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1992" y="5289804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台灣央行理事會、日圓可能升息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50992" y="5308092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鍾國忠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" y="5724144"/>
            <a:ext cx="1113099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0352" y="5724144"/>
            <a:ext cx="38100" cy="484632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852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B6472"/>
                </a:solidFill>
                <a:latin typeface="Microsoft JhengHei"/>
              </a:rPr>
              <a:t>九月內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21992" y="584301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Fed 利率會議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0992" y="5861304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升息機率已被定價在 57–60%（林漢偉、陳昆仁、蔡明翰）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382512"/>
            <a:ext cx="111309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Microsoft JhengHei"/>
              </a:rPr>
              <a:t>日期以節目中所述為準；跨日出現差異者取最後一次提及的版本。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121F"/>
                </a:solidFill>
                <a:latin typeface="Consola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下週判斷：多空兩邊各自的條件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10896"/>
            <a:ext cx="37975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以週末節目為準，同一個 46,000 點兩種讀法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298448"/>
            <a:ext cx="5532120" cy="384048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偏多方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55648"/>
            <a:ext cx="553212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65376"/>
            <a:ext cx="512978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林漢偉　</a:t>
            </a:r>
            <a:r>
              <a:rPr sz="1150">
                <a:solidFill>
                  <a:srgbClr val="C1121F"/>
                </a:solidFill>
                <a:latin typeface="Microsoft JhengHei"/>
              </a:rPr>
              <a:t>看多／信心高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跌破 46,000 點未破壞多方結構，5 日線附近有強力支撐，回撤對盤勢是好事，拉回反而提供低接買點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615184"/>
            <a:ext cx="553212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512978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陳昆仁　</a:t>
            </a:r>
            <a:r>
              <a:rPr sz="1150">
                <a:solidFill>
                  <a:srgbClr val="C1121F"/>
                </a:solidFill>
                <a:latin typeface="Microsoft JhengHei"/>
              </a:rPr>
              <a:t>看多／信心高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升息利空已被快速定價，是短線情緒釋放；融資連日暴增代表散戶進場，主力洗盤是必然，不是系統性盤整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3474720"/>
            <a:ext cx="553212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84448"/>
            <a:ext cx="512978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高憲容　</a:t>
            </a:r>
            <a:r>
              <a:rPr sz="1150">
                <a:solidFill>
                  <a:srgbClr val="C1121F"/>
                </a:solidFill>
                <a:latin typeface="Microsoft JhengHei"/>
              </a:rPr>
              <a:t>看多／信心高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台幣轉升 ＋ 外資史上最大買超，依三次歷史經驗可啟動 7–10 個月的波段，台股看 54,000 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4334256"/>
            <a:ext cx="5532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43984"/>
            <a:ext cx="5129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郭哲榮　</a:t>
            </a:r>
            <a:r>
              <a:rPr sz="1150">
                <a:solidFill>
                  <a:srgbClr val="C1121F"/>
                </a:solidFill>
                <a:latin typeface="Microsoft JhengHei"/>
              </a:rPr>
              <a:t>看多／信心高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下週被動元件大補漲；年底看 5 萬點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1298448"/>
            <a:ext cx="5532120" cy="384048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371600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偏空與保留方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1755648"/>
            <a:ext cx="553212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865376"/>
            <a:ext cx="512978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鍾國忠　</a:t>
            </a:r>
            <a:r>
              <a:rPr sz="1150">
                <a:solidFill>
                  <a:srgbClr val="0F7A55"/>
                </a:solidFill>
                <a:latin typeface="Microsoft JhengHei"/>
              </a:rPr>
              <a:t>偏空／信心中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指數高於 46,000 點應把持股降到 4 成；拉回 42,000 點再拉高到 8–9 成。8 月量 17 兆低於 7 月 21 兆，無量難以大漲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2615184"/>
            <a:ext cx="553212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724912"/>
            <a:ext cx="512978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蔡明翰　</a:t>
            </a:r>
            <a:r>
              <a:rPr sz="1150">
                <a:solidFill>
                  <a:srgbClr val="0F7A55"/>
                </a:solidFill>
                <a:latin typeface="Microsoft JhengHei"/>
              </a:rPr>
              <a:t>中性／信心中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通膨具黏性、美債殖利率維持 5% 以上，估值持續受壓；9 月有望以高檔整理取代大跌，但槓桿不要開滿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4" y="3474720"/>
            <a:ext cx="5532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584448"/>
            <a:ext cx="5129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囿羽　</a:t>
            </a:r>
            <a:r>
              <a:rPr sz="1150">
                <a:solidFill>
                  <a:srgbClr val="0F7A55"/>
                </a:solidFill>
                <a:latin typeface="Microsoft JhengHei"/>
              </a:rPr>
              <a:t>偏多／信心中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量能與 KD 雙背離、季線下彎、布林通道高檔收窄，觀察日 KD 能否化解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2784" y="4169664"/>
            <a:ext cx="5532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279392"/>
            <a:ext cx="5129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01828"/>
                </a:solidFill>
                <a:latin typeface="Microsoft JhengHei"/>
              </a:rPr>
              <a:t>劉育綸　</a:t>
            </a:r>
            <a:r>
              <a:rPr sz="1150">
                <a:solidFill>
                  <a:srgbClr val="0F7A55"/>
                </a:solidFill>
                <a:latin typeface="Microsoft JhengHei"/>
              </a:rPr>
              <a:t>中性／信心中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若跌破低點將進入 44,200–46,400 點箱型整理，創高不追、回落敢買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230368"/>
            <a:ext cx="11130991" cy="1060704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340096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分界線是同一個數字：46,000 點。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3CC"/>
                </a:solidFill>
                <a:latin typeface="Microsoft JhengHei"/>
              </a:rPr>
              <a:t>一邊說跌破了也不破壞結構、拉回是買點；另一邊說站上了就該減碼。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93792" y="5358384"/>
            <a:ext cx="25400" cy="786384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21808" y="5376672"/>
            <a:ext cx="14813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46,000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B3CC"/>
                </a:solidFill>
                <a:latin typeface="Microsoft JhengHei"/>
              </a:rPr>
              <a:t>林漢偉　跌破不破壞結構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39712" y="5358384"/>
            <a:ext cx="25400" cy="786384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5376672"/>
            <a:ext cx="14813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46,000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B3CC"/>
                </a:solidFill>
                <a:latin typeface="Microsoft JhengHei"/>
              </a:rPr>
              <a:t>鍾國忠　以上降到 4 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85632" y="5358384"/>
            <a:ext cx="25400" cy="786384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5376672"/>
            <a:ext cx="14813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42,000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B3CC"/>
                </a:solidFill>
                <a:latin typeface="Microsoft JhengHei"/>
              </a:rPr>
              <a:t>鍾國忠　才拉到 8–9 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31552" y="5358384"/>
            <a:ext cx="25400" cy="786384"/>
          </a:xfrm>
          <a:prstGeom prst="rect">
            <a:avLst/>
          </a:prstGeom>
          <a:solidFill>
            <a:srgbClr val="0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59568" y="5376672"/>
            <a:ext cx="14813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onsolas"/>
              </a:rPr>
              <a:t>57–60%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FB3CC"/>
                </a:solidFill>
                <a:latin typeface="Microsoft JhengHei"/>
              </a:rPr>
              <a:t>9 月升息機率已定價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382512"/>
            <a:ext cx="111309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Microsoft JhengHei"/>
              </a:rPr>
              <a:t>態度與信心（看多／偏多／中性／偏空／看空、高／中／低）為來源摘要中的原始標註。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1121F"/>
                </a:solidFill>
                <a:latin typeface="Consola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資料來源與整理原則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98448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Microsoft JhengHei"/>
              </a:rPr>
              <a:t>來源檔案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664208"/>
            <a:ext cx="553212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50932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01828"/>
                </a:solidFill>
                <a:latin typeface="Consolas"/>
              </a:rPr>
              <a:t>Stock_Summary/20260824_StockSummary.txt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472"/>
                </a:solidFill>
                <a:latin typeface="Consolas"/>
              </a:rPr>
              <a:t>…　20260825　20260826　20260827　20260828　…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01828"/>
                </a:solidFill>
                <a:latin typeface="Consolas"/>
              </a:rPr>
              <a:t>Stock_Summary/20260831_StockWeeklySummary.txt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472"/>
                </a:solidFill>
                <a:latin typeface="Microsoft JhengHei"/>
              </a:rPr>
              <a:t>五個交易日各一份，加上 08/29–08/30 週末節目一份，合計約 13 萬字。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06324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2340"/>
                </a:solidFill>
                <a:latin typeface="Microsoft JhengHei"/>
              </a:rPr>
              <a:t>整理原則（沿用同一份摘要規則書）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429000"/>
            <a:ext cx="5532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38728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只寫來源明確講過的內容，不推論、不補充來源之外的知識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931920"/>
            <a:ext cx="5532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41648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每一條都標明是哪位分析師講的；同一人在多個頻道發言合併計算一次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4434840"/>
            <a:ext cx="5532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44568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態度只用看多／偏多／中性／偏空／看空五個詞，信心分高／中／低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4937760"/>
            <a:ext cx="55321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5129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來源未查證的股名或代號一律保留「待確認」，不憑印象補上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1298448"/>
            <a:ext cx="5388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1121F"/>
                </a:solidFill>
                <a:latin typeface="Microsoft JhengHei"/>
              </a:rPr>
              <a:t>已知的來源限制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1664208"/>
            <a:ext cx="5388559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1664208"/>
            <a:ext cx="38100" cy="658368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92224"/>
            <a:ext cx="4949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來源檔在 08/25 寫「蔡明漢」、08/26 寫「蔡明翰」，經確認為同一人，正確為蔡明翰，本簡報已統一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4" y="2414016"/>
            <a:ext cx="5388559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2414016"/>
            <a:ext cx="38100" cy="658368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542032"/>
            <a:ext cx="4949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週末那份來源檔內文帶有 [40, 55] 這類行號標記，是產生摘要時留下的，本簡報整理時一律忽略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2784" y="3163824"/>
            <a:ext cx="5388559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2784" y="3163824"/>
            <a:ext cx="38100" cy="658368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291840"/>
            <a:ext cx="4949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01828"/>
                </a:solidFill>
                <a:latin typeface="Microsoft JhengHei"/>
              </a:rPr>
              <a:t>指數、成交量、財務數字均為節目中所述，未另行向公開資訊源查證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2784" y="4114800"/>
            <a:ext cx="5388559" cy="160020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10528" y="4352544"/>
            <a:ext cx="128016" cy="128016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4279392"/>
            <a:ext cx="4657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本簡報為節目內容整理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D9DC"/>
                </a:solidFill>
                <a:latin typeface="Microsoft JhengHei"/>
              </a:rPr>
              <a:t>不構成任何投資建議。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3CC"/>
                </a:solidFill>
                <a:latin typeface="Microsoft JhengHei"/>
              </a:rPr>
              <a:t>內容為講者說法的轉述，非整理者的看法。投資決策請自行查證並承擔風險。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382512"/>
            <a:ext cx="111309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Microsoft JhengHei"/>
              </a:rPr>
              <a:t>2026/08/24 – 08/30　台股財經節目週摘要　·　Generated with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