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5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E2A3B"/>
                </a:solidFill>
                <a:latin typeface="Microsoft JhengHei"/>
              </a:defRPr>
            </a:pPr>
            <a:r>
              <a:rPr lang="zh-TW" altLang="en-US" sz="1300" b="0" i="0" u="none" strike="noStrike">
                <a:solidFill>
                  <a:srgbClr val="0E2A3B"/>
                </a:solidFill>
                <a:latin typeface="Microsoft JhengHei"/>
              </a:rPr>
              <a:t>各日行程總時數（小時）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當日行程時數</c:v>
                </c:pt>
              </c:strCache>
            </c:strRef>
          </c:tx>
          <c:spPr>
            <a:solidFill>
              <a:srgbClr val="1C6E8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25E-4F6E-A7FF-529BBF3374ED}"/>
              </c:ext>
            </c:extLst>
          </c:dPt>
          <c:dPt>
            <c:idx val="1"/>
            <c:invertIfNegative val="0"/>
            <c:bubble3D val="0"/>
            <c:spPr>
              <a:solidFill>
                <a:srgbClr val="2E8B6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25E-4F6E-A7FF-529BBF3374ED}"/>
              </c:ext>
            </c:extLst>
          </c:dPt>
          <c:dPt>
            <c:idx val="2"/>
            <c:invertIfNegative val="0"/>
            <c:bubble3D val="0"/>
            <c:spPr>
              <a:solidFill>
                <a:srgbClr val="C0832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25E-4F6E-A7FF-529BBF3374ED}"/>
              </c:ext>
            </c:extLst>
          </c:dPt>
          <c:dPt>
            <c:idx val="3"/>
            <c:invertIfNegative val="0"/>
            <c:bubble3D val="0"/>
            <c:spPr>
              <a:solidFill>
                <a:srgbClr val="C4452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25E-4F6E-A7FF-529BBF3374ED}"/>
              </c:ext>
            </c:extLst>
          </c:dPt>
          <c:dPt>
            <c:idx val="4"/>
            <c:invertIfNegative val="0"/>
            <c:bubble3D val="0"/>
            <c:spPr>
              <a:solidFill>
                <a:srgbClr val="5B4B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25E-4F6E-A7FF-529BBF3374ED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E2A3B"/>
                    </a:solidFill>
                    <a:latin typeface="Calibri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Day 1
09/24 (四)</c:v>
                </c:pt>
                <c:pt idx="1">
                  <c:v>Day 2
09/25 (五)</c:v>
                </c:pt>
                <c:pt idx="2">
                  <c:v>Day 3
09/26 (六)</c:v>
                </c:pt>
                <c:pt idx="3">
                  <c:v>Day 4
09/27 (日)</c:v>
                </c:pt>
                <c:pt idx="4">
                  <c:v>Day 5
09/28 (一)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</c:v>
                </c:pt>
                <c:pt idx="1">
                  <c:v>12.9</c:v>
                </c:pt>
                <c:pt idx="2">
                  <c:v>10.1</c:v>
                </c:pt>
                <c:pt idx="3">
                  <c:v>12.5</c:v>
                </c:pt>
                <c:pt idx="4">
                  <c:v>14.3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25E-4F6E-A7FF-529BBF3374E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5"/>
                </a:solidFill>
                <a:latin typeface="Microsoft Jheng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"/>
        </c:scaling>
        <c:delete val="0"/>
        <c:axPos val="l"/>
        <c:majorGridlines>
          <c:spPr>
            <a:ln w="12700" cap="flat">
              <a:solidFill>
                <a:srgbClr val="E4EB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1586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封面。資料來源：旅行社 2026.09.24–09.28 版旅遊手冊。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五日路線一覽，Day 1 宮島、Day 2 汽船＋松山、Day 3 今治→高松、Day 4 琴平、Day 5 栗林公園後返台。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回程 CI179 於高松機場 19:05 起飛，Day 5 建議至少保留 120 分鐘辦理報到。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1（09/24 (四)）重點：嚴島神社・海上大鳥居・千疊閣・表參道商店街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2（09/25 (五)）重點：瀨戶內海汽船・松山城・道後溫泉本館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3（09/26 (六)）重點：今治毛巾美術館・高松中央（丸龜町）商店街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4（09/27 (日)）重點：瀨戶大橋塔 360°・金刀比羅宮・溫泉會席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5（09/28 (一)）重點：善通寺・高松商店街・栗林公園（抹茶＋和菓子）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3 是節奏最鬆的一天，也是採買主場；Day 4 因金刀比羅宮階梯負荷最高。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3 與 Day 5 各 3 小時的高松商店街是採買主場，兩段可分工：Day 3 逛、Day 5 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四間飯店電話請先存入手機，走失時可直接請當地人協助聯繫。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結尾。所有推估時間以隨團導遊現場公告為準。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371600"/>
            <a:ext cx="5852160" cy="5852160"/>
          </a:xfrm>
          <a:prstGeom prst="ellipse">
            <a:avLst/>
          </a:prstGeom>
          <a:solidFill>
            <a:srgbClr val="1C6E8C">
              <a:alpha val="22000"/>
            </a:srgbClr>
          </a:solidFill>
          <a:ln w="12700">
            <a:solidFill>
              <a:srgbClr val="1C6E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2926080"/>
            <a:ext cx="3840480" cy="3840480"/>
          </a:xfrm>
          <a:prstGeom prst="ellipse">
            <a:avLst/>
          </a:prstGeom>
          <a:solidFill>
            <a:srgbClr val="C4452F">
              <a:alpha val="18000"/>
            </a:srgbClr>
          </a:solidFill>
          <a:ln w="12700">
            <a:solidFill>
              <a:srgbClr val="C4452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17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 INLAND SEA ‧ SHIKOKU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廣島・高松 5 日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9C4D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瀨戶內海 ‧ </a:t>
            </a:r>
            <a:r>
              <a:rPr lang="en-US" sz="2000" dirty="0" err="1">
                <a:solidFill>
                  <a:srgbClr val="A9C4D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四國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611880"/>
            <a:ext cx="4206240" cy="566928"/>
          </a:xfrm>
          <a:prstGeom prst="roundRect">
            <a:avLst>
              <a:gd name="adj" fmla="val 16129"/>
            </a:avLst>
          </a:prstGeom>
          <a:solidFill>
            <a:srgbClr val="C4452F"/>
          </a:solidFill>
          <a:ln w="12700">
            <a:solidFill>
              <a:srgbClr val="C445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61188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2026.09.24 (四) – 09.28 (一)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44348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A9C4D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跟團行程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7548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C4D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廣島進・高松出　CI112 / CI179　4 晚 5 日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5806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8A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行程時間表 ‧ 互動地圖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五日行程總覽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863840" y="384048"/>
            <a:ext cx="3776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A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廣島進 ‧ 高松出｜4 晚 5 日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F2F6F8"/>
          </a:solidFill>
          <a:ln w="12700">
            <a:solidFill>
              <a:srgbClr val="E1E9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298448"/>
            <a:ext cx="1024128" cy="548640"/>
          </a:xfrm>
          <a:prstGeom prst="roundRect">
            <a:avLst>
              <a:gd name="adj" fmla="val 10000"/>
            </a:avLst>
          </a:prstGeom>
          <a:solidFill>
            <a:srgbClr val="1C6E8C"/>
          </a:solidFill>
          <a:ln w="12700">
            <a:solidFill>
              <a:srgbClr val="1C6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298448"/>
            <a:ext cx="102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901952" y="126187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09/24 (四)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01952" y="148132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桃園 → 廣島 → 宮島 → 廣島市區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406640" y="12435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406640" y="144475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嚴島神社・海上大鳥居・千疊閣・表參道商店街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921240" y="12435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住宿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921240" y="144475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6E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廣島麗嘉皇家酒店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2112264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F2F6F8"/>
          </a:solidFill>
          <a:ln w="12700">
            <a:solidFill>
              <a:srgbClr val="E1E9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2267712"/>
            <a:ext cx="1024128" cy="548640"/>
          </a:xfrm>
          <a:prstGeom prst="roundRect">
            <a:avLst>
              <a:gd name="adj" fmla="val 10000"/>
            </a:avLst>
          </a:prstGeom>
          <a:solidFill>
            <a:srgbClr val="2E8B6F"/>
          </a:solidFill>
          <a:ln w="12700">
            <a:solidFill>
              <a:srgbClr val="2E8B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267712"/>
            <a:ext cx="102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901952" y="223113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09/25 (五)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901952" y="2450592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廣島 →(瀨戶內海汽船)→ 松山 → 道後 → 今治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406640" y="22128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406640" y="241401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瀨戶內海汽船・松山城・道後溫泉本館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921240" y="22128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住宿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921240" y="2414016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8B6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今治國際飯店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3081528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F2F6F8"/>
          </a:solidFill>
          <a:ln w="12700">
            <a:solidFill>
              <a:srgbClr val="E1E9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236976"/>
            <a:ext cx="1024128" cy="548640"/>
          </a:xfrm>
          <a:prstGeom prst="roundRect">
            <a:avLst>
              <a:gd name="adj" fmla="val 10000"/>
            </a:avLst>
          </a:prstGeom>
          <a:solidFill>
            <a:srgbClr val="C08327"/>
          </a:solidFill>
          <a:ln w="12700">
            <a:solidFill>
              <a:srgbClr val="C0832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3236976"/>
            <a:ext cx="102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901952" y="320040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09/26 (六)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901952" y="3419856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今治 → 高松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406640" y="31821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406640" y="338328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今治毛巾美術館・高松中央（丸龜町）商店街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921240" y="31821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住宿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921240" y="338328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83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JR Hotel Clement 高松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8640" y="4050792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F2F6F8"/>
          </a:solidFill>
          <a:ln w="12700">
            <a:solidFill>
              <a:srgbClr val="E1E9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3232" y="4206240"/>
            <a:ext cx="1024128" cy="548640"/>
          </a:xfrm>
          <a:prstGeom prst="roundRect">
            <a:avLst>
              <a:gd name="adj" fmla="val 10000"/>
            </a:avLst>
          </a:prstGeom>
          <a:solidFill>
            <a:srgbClr val="C4452F"/>
          </a:solidFill>
          <a:ln w="12700">
            <a:solidFill>
              <a:srgbClr val="C4452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" y="4206240"/>
            <a:ext cx="102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4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901952" y="416966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09/27 (日)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901952" y="438912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高松 → 坂出 → 琴平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7406640" y="415137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406640" y="43525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瀨戶大橋塔 360°・金刀比羅宮・溫泉會席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921240" y="415137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住宿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921240" y="435254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445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琴平溫泉 琴參閣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48640" y="5020056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F2F6F8"/>
          </a:solidFill>
          <a:ln w="12700">
            <a:solidFill>
              <a:srgbClr val="E1E9E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3232" y="5175504"/>
            <a:ext cx="1024128" cy="548640"/>
          </a:xfrm>
          <a:prstGeom prst="roundRect">
            <a:avLst>
              <a:gd name="adj" fmla="val 10000"/>
            </a:avLst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3232" y="5175504"/>
            <a:ext cx="102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5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1901952" y="51389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09/28 (一)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901952" y="5358384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琴平 → 高松 → 高松機場 → 桃園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7406640" y="51206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406640" y="532180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善通寺・高松商店街・栗林公園（抹茶＋和菓子）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9921240" y="51206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住宿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9921240" y="532180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4B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溫暖的家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航班 ‧ 集合 ‧ 聯絡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863840" y="384048"/>
            <a:ext cx="3776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A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中華航空 ‧ 桃園 T2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5362956" cy="1783080"/>
          </a:xfrm>
          <a:prstGeom prst="roundRect">
            <a:avLst>
              <a:gd name="adj" fmla="val 3590"/>
            </a:avLst>
          </a:prstGeom>
          <a:solidFill>
            <a:srgbClr val="1C6E8C"/>
          </a:solidFill>
          <a:ln w="12700">
            <a:solidFill>
              <a:srgbClr val="1C6E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298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E8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去程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112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894076" y="148132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07:10 → 10:35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68680" y="2121408"/>
            <a:ext cx="47228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桃園 TPE → 廣島 HIJ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450592"/>
            <a:ext cx="47228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E9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09/24 (四)　飛行 2h25m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77356" y="1097280"/>
            <a:ext cx="5362956" cy="1783080"/>
          </a:xfrm>
          <a:prstGeom prst="roundRect">
            <a:avLst>
              <a:gd name="adj" fmla="val 3590"/>
            </a:avLst>
          </a:prstGeom>
          <a:solidFill>
            <a:srgbClr val="C4452F"/>
          </a:solidFill>
          <a:ln w="12700">
            <a:solidFill>
              <a:srgbClr val="C445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97396" y="1298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E8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回程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97396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179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622792" y="148132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19:05 → 20:55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597396" y="2121408"/>
            <a:ext cx="47228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高松 TAK → 桃園 TPE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97396" y="2450592"/>
            <a:ext cx="47228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E9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09/28 (一)　飛行 2h40m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15468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集合資訊（去程 09/24）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3566160"/>
            <a:ext cx="11091672" cy="621792"/>
          </a:xfrm>
          <a:prstGeom prst="roundRect">
            <a:avLst>
              <a:gd name="adj" fmla="val 8824"/>
            </a:avLst>
          </a:prstGeom>
          <a:solidFill>
            <a:srgbClr val="F2F6F8"/>
          </a:solidFill>
          <a:ln w="12700">
            <a:solidFill>
              <a:srgbClr val="E1E9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361188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45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搭遊覽車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68880" y="3611880"/>
            <a:ext cx="8942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Xx:Xx　指定集合地點（詳見紙本手冊）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279392"/>
            <a:ext cx="11091672" cy="621792"/>
          </a:xfrm>
          <a:prstGeom prst="roundRect">
            <a:avLst>
              <a:gd name="adj" fmla="val 8824"/>
            </a:avLst>
          </a:prstGeom>
          <a:solidFill>
            <a:srgbClr val="F2F6F8"/>
          </a:solidFill>
          <a:ln w="12700">
            <a:solidFill>
              <a:srgbClr val="E1E9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4325112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45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機場自行報到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468880" y="4325112"/>
            <a:ext cx="8942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04:45　桃園機場 第二航廈・中華航空 8 號櫃檯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512064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緊急聯絡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48640" y="5513832"/>
            <a:ext cx="2567178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CBD8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5586984"/>
            <a:ext cx="22379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A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導遊 1 車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13232" y="5788152"/>
            <a:ext cx="22379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見紙本手冊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3232" y="6007608"/>
            <a:ext cx="22379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390138" y="5513832"/>
            <a:ext cx="2567178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CBD8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54730" y="5586984"/>
            <a:ext cx="22379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A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導遊 2 車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554730" y="5788152"/>
            <a:ext cx="22379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見紙本手冊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554730" y="6007608"/>
            <a:ext cx="22379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31636" y="5513832"/>
            <a:ext cx="2567178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CBD8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96228" y="5586984"/>
            <a:ext cx="22379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A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旅行社窗口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96228" y="5788152"/>
            <a:ext cx="22379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見紙本手冊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396228" y="6007608"/>
            <a:ext cx="22379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073134" y="5513832"/>
            <a:ext cx="2567178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CBD8D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37726" y="5586984"/>
            <a:ext cx="22379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A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日本報案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9237726" y="5788152"/>
            <a:ext cx="22379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一般報案專線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237726" y="6007608"/>
            <a:ext cx="22379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1298448" cy="566928"/>
          </a:xfrm>
          <a:prstGeom prst="roundRect">
            <a:avLst>
              <a:gd name="adj" fmla="val 11290"/>
            </a:avLst>
          </a:prstGeom>
          <a:solidFill>
            <a:srgbClr val="1C6E8C"/>
          </a:solidFill>
          <a:ln w="12700">
            <a:solidFill>
              <a:srgbClr val="1C6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1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029968" y="2926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A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09/24 (四)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029968" y="50292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桃園 → 廣島 → 宮島 → 廣島市區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595360" y="329184"/>
            <a:ext cx="3044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A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住宿　</a:t>
            </a:r>
            <a:r>
              <a:rPr lang="en-US" sz="1150" b="1" dirty="0">
                <a:solidFill>
                  <a:srgbClr val="1C6E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廣島麗嘉皇家酒店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0" y="603504"/>
            <a:ext cx="3410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A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當日行程約 13.0 小時　‧　13 個段落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1170432"/>
            <a:ext cx="5394960" cy="530352"/>
          </a:xfrm>
          <a:prstGeom prst="roundRect">
            <a:avLst>
              <a:gd name="adj" fmla="val 8621"/>
            </a:avLst>
          </a:prstGeom>
          <a:solidFill>
            <a:srgbClr val="F2F6F8"/>
          </a:solidFill>
          <a:ln w="12700">
            <a:solidFill>
              <a:srgbClr val="E4EB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" y="121615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05:10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371600" y="1243584"/>
            <a:ext cx="457200" cy="192024"/>
          </a:xfrm>
          <a:prstGeom prst="roundRect">
            <a:avLst>
              <a:gd name="adj" fmla="val 19048"/>
            </a:avLst>
          </a:prstGeom>
          <a:solidFill>
            <a:srgbClr val="6B7A85"/>
          </a:solidFill>
          <a:ln w="12700">
            <a:solidFill>
              <a:srgbClr val="6B7A8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71600" y="12344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手續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920240" y="1197864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報到、託運、出境查驗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920240" y="1435608"/>
            <a:ext cx="3895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手冊建議提早 2.5 小時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548640" y="1760220"/>
            <a:ext cx="5394960" cy="530352"/>
          </a:xfrm>
          <a:prstGeom prst="roundRect">
            <a:avLst>
              <a:gd name="adj" fmla="val 8621"/>
            </a:avLst>
          </a:prstGeom>
          <a:solidFill>
            <a:srgbClr val="F2F6F8"/>
          </a:solidFill>
          <a:ln w="12700">
            <a:solidFill>
              <a:srgbClr val="E4EB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" y="180594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07:10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371600" y="1833372"/>
            <a:ext cx="457200" cy="192024"/>
          </a:xfrm>
          <a:prstGeom prst="roundRect">
            <a:avLst>
              <a:gd name="adj" fmla="val 19048"/>
            </a:avLst>
          </a:prstGeom>
          <a:solidFill>
            <a:srgbClr val="0E2A3B"/>
          </a:solidFill>
          <a:ln w="12700">
            <a:solidFill>
              <a:srgbClr val="0E2A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0" y="18242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航班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920240" y="1787652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 112　TPE → HIJ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920240" y="2025396"/>
            <a:ext cx="3895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飛行 2h25m ‧ 10:35 抵達（日本時間）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548640" y="2350008"/>
            <a:ext cx="5394960" cy="530352"/>
          </a:xfrm>
          <a:prstGeom prst="roundRect">
            <a:avLst>
              <a:gd name="adj" fmla="val 8621"/>
            </a:avLst>
          </a:prstGeom>
          <a:solidFill>
            <a:srgbClr val="F2F6F8"/>
          </a:solidFill>
          <a:ln w="12700">
            <a:solidFill>
              <a:srgbClr val="E4EB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" y="239572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10:35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1371600" y="2423160"/>
            <a:ext cx="457200" cy="192024"/>
          </a:xfrm>
          <a:prstGeom prst="roundRect">
            <a:avLst>
              <a:gd name="adj" fmla="val 19048"/>
            </a:avLst>
          </a:prstGeom>
          <a:solidFill>
            <a:srgbClr val="6B7A85"/>
          </a:solidFill>
          <a:ln w="12700">
            <a:solidFill>
              <a:srgbClr val="6B7A8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71600" y="24140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手續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920240" y="2377440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廣島機場 入境、提領行李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920240" y="2615184"/>
            <a:ext cx="3895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團體通關約 40–50 分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548640" y="2939796"/>
            <a:ext cx="5394960" cy="530352"/>
          </a:xfrm>
          <a:prstGeom prst="roundRect">
            <a:avLst>
              <a:gd name="adj" fmla="val 8621"/>
            </a:avLst>
          </a:prstGeom>
          <a:solidFill>
            <a:srgbClr val="F2F6F8"/>
          </a:solidFill>
          <a:ln w="12700">
            <a:solidFill>
              <a:srgbClr val="E4EB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6656" y="298551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11:20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1371600" y="3012948"/>
            <a:ext cx="457200" cy="192024"/>
          </a:xfrm>
          <a:prstGeom prst="roundRect">
            <a:avLst>
              <a:gd name="adj" fmla="val 19048"/>
            </a:avLst>
          </a:prstGeom>
          <a:solidFill>
            <a:srgbClr val="1C6E8C"/>
          </a:solidFill>
          <a:ln w="12700">
            <a:solidFill>
              <a:srgbClr val="1C6E8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371600" y="30038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移動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920240" y="2967228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廣島機場 → 宮島口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1920240" y="3204972"/>
            <a:ext cx="3895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遊覽車 ‧ 75 km ‧ 山陽道→廿日市IC</a:t>
            </a:r>
            <a:endParaRPr lang="en-US" sz="880" dirty="0"/>
          </a:p>
        </p:txBody>
      </p:sp>
      <p:sp>
        <p:nvSpPr>
          <p:cNvPr id="44" name="Shape 42"/>
          <p:cNvSpPr/>
          <p:nvPr/>
        </p:nvSpPr>
        <p:spPr>
          <a:xfrm>
            <a:off x="548640" y="3529584"/>
            <a:ext cx="5394960" cy="530352"/>
          </a:xfrm>
          <a:prstGeom prst="roundRect">
            <a:avLst>
              <a:gd name="adj" fmla="val 8621"/>
            </a:avLst>
          </a:prstGeom>
          <a:solidFill>
            <a:srgbClr val="F2F6F8"/>
          </a:solidFill>
          <a:ln w="12700">
            <a:solidFill>
              <a:srgbClr val="E4EB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6656" y="357530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12:45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1371600" y="3602736"/>
            <a:ext cx="457200" cy="192024"/>
          </a:xfrm>
          <a:prstGeom prst="roundRect">
            <a:avLst>
              <a:gd name="adj" fmla="val 19048"/>
            </a:avLst>
          </a:prstGeom>
          <a:solidFill>
            <a:srgbClr val="1C6E8C"/>
          </a:solidFill>
          <a:ln w="12700">
            <a:solidFill>
              <a:srgbClr val="1C6E8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0" y="35935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移動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920240" y="3557016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宮島口 → 宮島棧橋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1920240" y="3794760"/>
            <a:ext cx="3895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渡輪 ‧ 航程 10 分（含候船）</a:t>
            </a:r>
            <a:endParaRPr lang="en-US" sz="880" dirty="0"/>
          </a:p>
        </p:txBody>
      </p:sp>
      <p:sp>
        <p:nvSpPr>
          <p:cNvPr id="50" name="Shape 48"/>
          <p:cNvSpPr/>
          <p:nvPr/>
        </p:nvSpPr>
        <p:spPr>
          <a:xfrm>
            <a:off x="548640" y="4119372"/>
            <a:ext cx="5394960" cy="530352"/>
          </a:xfrm>
          <a:prstGeom prst="roundRect">
            <a:avLst>
              <a:gd name="adj" fmla="val 8621"/>
            </a:avLst>
          </a:prstGeom>
          <a:solidFill>
            <a:srgbClr val="F2F6F8"/>
          </a:solidFill>
          <a:ln w="12700">
            <a:solidFill>
              <a:srgbClr val="E4EB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6656" y="416509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8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13:10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1371600" y="4192524"/>
            <a:ext cx="457200" cy="192024"/>
          </a:xfrm>
          <a:prstGeom prst="roundRect">
            <a:avLst>
              <a:gd name="adj" fmla="val 19048"/>
            </a:avLst>
          </a:prstGeom>
          <a:solidFill>
            <a:srgbClr val="C08327"/>
          </a:solidFill>
          <a:ln w="12700">
            <a:solidFill>
              <a:srgbClr val="C0832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0" y="41833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餐食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1920240" y="4146804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午餐：宮島牡蠣釜飯定食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1920240" y="4384548"/>
            <a:ext cx="3895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¥2,780 ‧ 手冊指定餐</a:t>
            </a:r>
            <a:endParaRPr lang="en-US" sz="880" dirty="0"/>
          </a:p>
        </p:txBody>
      </p:sp>
      <p:sp>
        <p:nvSpPr>
          <p:cNvPr id="56" name="Shape 54"/>
          <p:cNvSpPr/>
          <p:nvPr/>
        </p:nvSpPr>
        <p:spPr>
          <a:xfrm>
            <a:off x="548640" y="4709160"/>
            <a:ext cx="5394960" cy="530352"/>
          </a:xfrm>
          <a:prstGeom prst="roundRect">
            <a:avLst>
              <a:gd name="adj" fmla="val 8621"/>
            </a:avLst>
          </a:prstGeom>
          <a:solidFill>
            <a:srgbClr val="F2F6F8"/>
          </a:solidFill>
          <a:ln w="12700">
            <a:solidFill>
              <a:srgbClr val="E4EBE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76656" y="475488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14:10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1371600" y="4782312"/>
            <a:ext cx="457200" cy="192024"/>
          </a:xfrm>
          <a:prstGeom prst="roundRect">
            <a:avLst>
              <a:gd name="adj" fmla="val 19048"/>
            </a:avLst>
          </a:prstGeom>
          <a:solidFill>
            <a:srgbClr val="C4452F"/>
          </a:solidFill>
          <a:ln w="12700">
            <a:solidFill>
              <a:srgbClr val="C4452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371600" y="47731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景點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1920240" y="4736592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嚴島神社・海上大鳥居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1920240" y="4974336"/>
            <a:ext cx="3895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世界文化遺產 ‧ 參拜＋大鳥居拍照</a:t>
            </a:r>
            <a:endParaRPr lang="en-US" sz="880" dirty="0"/>
          </a:p>
        </p:txBody>
      </p:sp>
      <p:sp>
        <p:nvSpPr>
          <p:cNvPr id="62" name="Shape 60"/>
          <p:cNvSpPr/>
          <p:nvPr/>
        </p:nvSpPr>
        <p:spPr>
          <a:xfrm>
            <a:off x="6245352" y="1170432"/>
            <a:ext cx="5394960" cy="530352"/>
          </a:xfrm>
          <a:prstGeom prst="roundRect">
            <a:avLst>
              <a:gd name="adj" fmla="val 8621"/>
            </a:avLst>
          </a:prstGeom>
          <a:solidFill>
            <a:srgbClr val="F2F6F8"/>
          </a:solidFill>
          <a:ln w="12700">
            <a:solidFill>
              <a:srgbClr val="E4EBE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73368" y="121615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15:25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7068312" y="1243584"/>
            <a:ext cx="457200" cy="192024"/>
          </a:xfrm>
          <a:prstGeom prst="roundRect">
            <a:avLst>
              <a:gd name="adj" fmla="val 19048"/>
            </a:avLst>
          </a:prstGeom>
          <a:solidFill>
            <a:srgbClr val="C4452F"/>
          </a:solidFill>
          <a:ln w="12700">
            <a:solidFill>
              <a:srgbClr val="C4452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068312" y="12344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景點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7616952" y="1197864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千疊閣（豐國神社）</a:t>
            </a:r>
            <a:endParaRPr lang="en-US" sz="1150" dirty="0"/>
          </a:p>
        </p:txBody>
      </p:sp>
      <p:sp>
        <p:nvSpPr>
          <p:cNvPr id="67" name="Text 65"/>
          <p:cNvSpPr/>
          <p:nvPr/>
        </p:nvSpPr>
        <p:spPr>
          <a:xfrm>
            <a:off x="7616952" y="1435608"/>
            <a:ext cx="3895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豐臣秀吉大經堂 ‧ 鄰接五重塔</a:t>
            </a:r>
            <a:endParaRPr lang="en-US" sz="880" dirty="0"/>
          </a:p>
        </p:txBody>
      </p:sp>
      <p:sp>
        <p:nvSpPr>
          <p:cNvPr id="68" name="Shape 66"/>
          <p:cNvSpPr/>
          <p:nvPr/>
        </p:nvSpPr>
        <p:spPr>
          <a:xfrm>
            <a:off x="6245352" y="1760220"/>
            <a:ext cx="5394960" cy="530352"/>
          </a:xfrm>
          <a:prstGeom prst="roundRect">
            <a:avLst>
              <a:gd name="adj" fmla="val 8621"/>
            </a:avLst>
          </a:prstGeom>
          <a:solidFill>
            <a:srgbClr val="F2F6F8"/>
          </a:solidFill>
          <a:ln w="12700">
            <a:solidFill>
              <a:srgbClr val="E4EBE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373368" y="180594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15:55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7068312" y="1833372"/>
            <a:ext cx="457200" cy="192024"/>
          </a:xfrm>
          <a:prstGeom prst="roundRect">
            <a:avLst>
              <a:gd name="adj" fmla="val 19048"/>
            </a:avLst>
          </a:prstGeom>
          <a:solidFill>
            <a:srgbClr val="2E8B6F"/>
          </a:solidFill>
          <a:ln w="12700">
            <a:solidFill>
              <a:srgbClr val="2E8B6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068312" y="18242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自由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7616952" y="1787652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宮島表參道商店街 自由活動</a:t>
            </a:r>
            <a:endParaRPr lang="en-US" sz="1150" dirty="0"/>
          </a:p>
        </p:txBody>
      </p:sp>
      <p:sp>
        <p:nvSpPr>
          <p:cNvPr id="73" name="Text 71"/>
          <p:cNvSpPr/>
          <p:nvPr/>
        </p:nvSpPr>
        <p:spPr>
          <a:xfrm>
            <a:off x="7616952" y="2025396"/>
            <a:ext cx="3895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60 分 ‧ 現烤牡蠣、紅葉饅頭</a:t>
            </a:r>
            <a:endParaRPr lang="en-US" sz="880" dirty="0"/>
          </a:p>
        </p:txBody>
      </p:sp>
      <p:sp>
        <p:nvSpPr>
          <p:cNvPr id="74" name="Shape 72"/>
          <p:cNvSpPr/>
          <p:nvPr/>
        </p:nvSpPr>
        <p:spPr>
          <a:xfrm>
            <a:off x="6245352" y="2350008"/>
            <a:ext cx="5394960" cy="530352"/>
          </a:xfrm>
          <a:prstGeom prst="roundRect">
            <a:avLst>
              <a:gd name="adj" fmla="val 8621"/>
            </a:avLst>
          </a:prstGeom>
          <a:solidFill>
            <a:srgbClr val="F2F6F8"/>
          </a:solidFill>
          <a:ln w="12700">
            <a:solidFill>
              <a:srgbClr val="E4EBE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373368" y="239572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16:55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7068312" y="2423160"/>
            <a:ext cx="457200" cy="192024"/>
          </a:xfrm>
          <a:prstGeom prst="roundRect">
            <a:avLst>
              <a:gd name="adj" fmla="val 19048"/>
            </a:avLst>
          </a:prstGeom>
          <a:solidFill>
            <a:srgbClr val="1C6E8C"/>
          </a:solidFill>
          <a:ln w="12700">
            <a:solidFill>
              <a:srgbClr val="1C6E8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068312" y="24140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移動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7616952" y="2377440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宮島棧橋 → 宮島口</a:t>
            </a:r>
            <a:endParaRPr lang="en-US" sz="1150" dirty="0"/>
          </a:p>
        </p:txBody>
      </p:sp>
      <p:sp>
        <p:nvSpPr>
          <p:cNvPr id="79" name="Text 77"/>
          <p:cNvSpPr/>
          <p:nvPr/>
        </p:nvSpPr>
        <p:spPr>
          <a:xfrm>
            <a:off x="7616952" y="2615184"/>
            <a:ext cx="3895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渡輪 ‧ 含候船</a:t>
            </a:r>
            <a:endParaRPr lang="en-US" sz="880" dirty="0"/>
          </a:p>
        </p:txBody>
      </p:sp>
      <p:sp>
        <p:nvSpPr>
          <p:cNvPr id="80" name="Shape 78"/>
          <p:cNvSpPr/>
          <p:nvPr/>
        </p:nvSpPr>
        <p:spPr>
          <a:xfrm>
            <a:off x="6245352" y="2939796"/>
            <a:ext cx="5394960" cy="530352"/>
          </a:xfrm>
          <a:prstGeom prst="roundRect">
            <a:avLst>
              <a:gd name="adj" fmla="val 8621"/>
            </a:avLst>
          </a:prstGeom>
          <a:solidFill>
            <a:srgbClr val="F2F6F8"/>
          </a:solidFill>
          <a:ln w="12700">
            <a:solidFill>
              <a:srgbClr val="E4EBE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373368" y="298551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17:20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7068312" y="3012948"/>
            <a:ext cx="457200" cy="192024"/>
          </a:xfrm>
          <a:prstGeom prst="roundRect">
            <a:avLst>
              <a:gd name="adj" fmla="val 19048"/>
            </a:avLst>
          </a:prstGeom>
          <a:solidFill>
            <a:srgbClr val="1C6E8C"/>
          </a:solidFill>
          <a:ln w="12700">
            <a:solidFill>
              <a:srgbClr val="1C6E8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068312" y="30038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移動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7616952" y="2967228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宮島口 → 廣島市區</a:t>
            </a:r>
            <a:endParaRPr lang="en-US" sz="1150" dirty="0"/>
          </a:p>
        </p:txBody>
      </p:sp>
      <p:sp>
        <p:nvSpPr>
          <p:cNvPr id="85" name="Text 83"/>
          <p:cNvSpPr/>
          <p:nvPr/>
        </p:nvSpPr>
        <p:spPr>
          <a:xfrm>
            <a:off x="7616952" y="3204972"/>
            <a:ext cx="3895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遊覽車 ‧ 25 km</a:t>
            </a:r>
            <a:endParaRPr lang="en-US" sz="880" dirty="0"/>
          </a:p>
        </p:txBody>
      </p:sp>
      <p:sp>
        <p:nvSpPr>
          <p:cNvPr id="86" name="Shape 84"/>
          <p:cNvSpPr/>
          <p:nvPr/>
        </p:nvSpPr>
        <p:spPr>
          <a:xfrm>
            <a:off x="6245352" y="3529584"/>
            <a:ext cx="5394960" cy="530352"/>
          </a:xfrm>
          <a:prstGeom prst="roundRect">
            <a:avLst>
              <a:gd name="adj" fmla="val 8621"/>
            </a:avLst>
          </a:prstGeom>
          <a:solidFill>
            <a:srgbClr val="F2F6F8"/>
          </a:solidFill>
          <a:ln w="12700">
            <a:solidFill>
              <a:srgbClr val="E4EBE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373368" y="357530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8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18:10</a:t>
            </a:r>
            <a:endParaRPr lang="en-US" sz="1300" dirty="0"/>
          </a:p>
        </p:txBody>
      </p:sp>
      <p:sp>
        <p:nvSpPr>
          <p:cNvPr id="88" name="Shape 86"/>
          <p:cNvSpPr/>
          <p:nvPr/>
        </p:nvSpPr>
        <p:spPr>
          <a:xfrm>
            <a:off x="7068312" y="3602736"/>
            <a:ext cx="457200" cy="192024"/>
          </a:xfrm>
          <a:prstGeom prst="roundRect">
            <a:avLst>
              <a:gd name="adj" fmla="val 19048"/>
            </a:avLst>
          </a:prstGeom>
          <a:solidFill>
            <a:srgbClr val="C08327"/>
          </a:solidFill>
          <a:ln w="12700">
            <a:solidFill>
              <a:srgbClr val="C08327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068312" y="35935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餐食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7616952" y="3557016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晚餐：廣島風味餐</a:t>
            </a:r>
            <a:endParaRPr lang="en-US" sz="1150" dirty="0"/>
          </a:p>
        </p:txBody>
      </p:sp>
      <p:sp>
        <p:nvSpPr>
          <p:cNvPr id="91" name="Text 89"/>
          <p:cNvSpPr/>
          <p:nvPr/>
        </p:nvSpPr>
        <p:spPr>
          <a:xfrm>
            <a:off x="7616952" y="3794760"/>
            <a:ext cx="3895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¥4,500 ‧ 手冊指定餐</a:t>
            </a:r>
            <a:endParaRPr lang="en-US" sz="880" dirty="0"/>
          </a:p>
        </p:txBody>
      </p:sp>
      <p:sp>
        <p:nvSpPr>
          <p:cNvPr id="92" name="Shape 90"/>
          <p:cNvSpPr/>
          <p:nvPr/>
        </p:nvSpPr>
        <p:spPr>
          <a:xfrm>
            <a:off x="6245352" y="4119372"/>
            <a:ext cx="5394960" cy="530352"/>
          </a:xfrm>
          <a:prstGeom prst="roundRect">
            <a:avLst>
              <a:gd name="adj" fmla="val 8621"/>
            </a:avLst>
          </a:prstGeom>
          <a:solidFill>
            <a:srgbClr val="F2F6F8"/>
          </a:solidFill>
          <a:ln w="12700">
            <a:solidFill>
              <a:srgbClr val="E4EBEF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373368" y="416509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4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19:25</a:t>
            </a:r>
            <a:endParaRPr lang="en-US" sz="1300" dirty="0"/>
          </a:p>
        </p:txBody>
      </p:sp>
      <p:sp>
        <p:nvSpPr>
          <p:cNvPr id="94" name="Shape 92"/>
          <p:cNvSpPr/>
          <p:nvPr/>
        </p:nvSpPr>
        <p:spPr>
          <a:xfrm>
            <a:off x="7068312" y="4192524"/>
            <a:ext cx="457200" cy="192024"/>
          </a:xfrm>
          <a:prstGeom prst="roundRect">
            <a:avLst>
              <a:gd name="adj" fmla="val 19048"/>
            </a:avLst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068312" y="41833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住宿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7616952" y="4146804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廣島麗嘉皇家酒店</a:t>
            </a:r>
            <a:endParaRPr lang="en-US" sz="1150" dirty="0"/>
          </a:p>
        </p:txBody>
      </p:sp>
      <p:sp>
        <p:nvSpPr>
          <p:cNvPr id="97" name="Text 95"/>
          <p:cNvSpPr/>
          <p:nvPr/>
        </p:nvSpPr>
        <p:spPr>
          <a:xfrm>
            <a:off x="7616952" y="4384548"/>
            <a:ext cx="3895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広島市中区基町 6-78</a:t>
            </a:r>
            <a:endParaRPr lang="en-US" sz="880" dirty="0"/>
          </a:p>
        </p:txBody>
      </p:sp>
      <p:sp>
        <p:nvSpPr>
          <p:cNvPr id="98" name="Text 96"/>
          <p:cNvSpPr/>
          <p:nvPr/>
        </p:nvSpPr>
        <p:spPr>
          <a:xfrm>
            <a:off x="548640" y="5989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05:10–10:35 為台灣時間，其後為日本時間　｜　航班與集合為手冊明載，其餘時間為依路線距離之推估值，實際以隨團導遊公告為準。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1298448" cy="566928"/>
          </a:xfrm>
          <a:prstGeom prst="roundRect">
            <a:avLst>
              <a:gd name="adj" fmla="val 11290"/>
            </a:avLst>
          </a:prstGeom>
          <a:solidFill>
            <a:srgbClr val="2E8B6F"/>
          </a:solidFill>
          <a:ln w="12700">
            <a:solidFill>
              <a:srgbClr val="2E8B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2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029968" y="2926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A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09/25 (五)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029968" y="50292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廣島 →(瀨戶內海汽船)→ 松山 → 道後 → 今治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595360" y="329184"/>
            <a:ext cx="3044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A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住宿　</a:t>
            </a:r>
            <a:r>
              <a:rPr lang="en-US" sz="1150" b="1" dirty="0">
                <a:solidFill>
                  <a:srgbClr val="2E8B6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今治國際飯店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0" y="603504"/>
            <a:ext cx="3410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A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當日行程約 12.9 小時　‧　13 個段落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170432"/>
            <a:ext cx="5394960" cy="530352"/>
          </a:xfrm>
          <a:prstGeom prst="roundRect">
            <a:avLst>
              <a:gd name="adj" fmla="val 8621"/>
            </a:avLst>
          </a:prstGeom>
          <a:solidFill>
            <a:srgbClr val="F2F6F8"/>
          </a:solidFill>
          <a:ln w="12700">
            <a:solidFill>
              <a:srgbClr val="E4EB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121615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8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07:00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71600" y="1243584"/>
            <a:ext cx="457200" cy="192024"/>
          </a:xfrm>
          <a:prstGeom prst="roundRect">
            <a:avLst>
              <a:gd name="adj" fmla="val 19048"/>
            </a:avLst>
          </a:prstGeom>
          <a:solidFill>
            <a:srgbClr val="C08327"/>
          </a:solidFill>
          <a:ln w="12700">
            <a:solidFill>
              <a:srgbClr val="C083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12344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餐食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920240" y="1197864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飯店內早餐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920240" y="1435608"/>
            <a:ext cx="3895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 07:00 早餐、08:00 出發推估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548640" y="1760220"/>
            <a:ext cx="5394960" cy="530352"/>
          </a:xfrm>
          <a:prstGeom prst="roundRect">
            <a:avLst>
              <a:gd name="adj" fmla="val 8621"/>
            </a:avLst>
          </a:prstGeom>
          <a:solidFill>
            <a:srgbClr val="F2F6F8"/>
          </a:solidFill>
          <a:ln w="12700">
            <a:solidFill>
              <a:srgbClr val="E4EB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" y="180594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08:00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371600" y="1833372"/>
            <a:ext cx="457200" cy="192024"/>
          </a:xfrm>
          <a:prstGeom prst="roundRect">
            <a:avLst>
              <a:gd name="adj" fmla="val 19048"/>
            </a:avLst>
          </a:prstGeom>
          <a:solidFill>
            <a:srgbClr val="1C6E8C"/>
          </a:solidFill>
          <a:ln w="12700">
            <a:solidFill>
              <a:srgbClr val="1C6E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18242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移動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920240" y="1787652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飯店 → 廣島港（宇品）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920240" y="2025396"/>
            <a:ext cx="3895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遊覽車 ‧ 6 km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548640" y="2350008"/>
            <a:ext cx="5394960" cy="530352"/>
          </a:xfrm>
          <a:prstGeom prst="roundRect">
            <a:avLst>
              <a:gd name="adj" fmla="val 8621"/>
            </a:avLst>
          </a:prstGeom>
          <a:solidFill>
            <a:srgbClr val="F2F6F8"/>
          </a:solidFill>
          <a:ln w="12700">
            <a:solidFill>
              <a:srgbClr val="E4EB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" y="239572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08:30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371600" y="2423160"/>
            <a:ext cx="457200" cy="192024"/>
          </a:xfrm>
          <a:prstGeom prst="roundRect">
            <a:avLst>
              <a:gd name="adj" fmla="val 19048"/>
            </a:avLst>
          </a:prstGeom>
          <a:solidFill>
            <a:srgbClr val="6B7A85"/>
          </a:solidFill>
          <a:ln w="12700">
            <a:solidFill>
              <a:srgbClr val="6B7A8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71600" y="24140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手續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920240" y="2377440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廣島港 候船、登船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920240" y="2615184"/>
            <a:ext cx="3895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團體提前登船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548640" y="2939796"/>
            <a:ext cx="5394960" cy="530352"/>
          </a:xfrm>
          <a:prstGeom prst="roundRect">
            <a:avLst>
              <a:gd name="adj" fmla="val 8621"/>
            </a:avLst>
          </a:prstGeom>
          <a:solidFill>
            <a:srgbClr val="F2F6F8"/>
          </a:solidFill>
          <a:ln w="12700">
            <a:solidFill>
              <a:srgbClr val="E4EB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" y="298551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371600" y="3012948"/>
            <a:ext cx="457200" cy="192024"/>
          </a:xfrm>
          <a:prstGeom prst="roundRect">
            <a:avLst>
              <a:gd name="adj" fmla="val 19048"/>
            </a:avLst>
          </a:prstGeom>
          <a:solidFill>
            <a:srgbClr val="1C6E8C"/>
          </a:solidFill>
          <a:ln w="12700">
            <a:solidFill>
              <a:srgbClr val="1C6E8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0" y="30038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移動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920240" y="2967228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廣島港 → 吳中央碼頭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920240" y="3204972"/>
            <a:ext cx="3895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瀨戶內海汽船 ‧ 手冊載約 45 分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548640" y="3529584"/>
            <a:ext cx="5394960" cy="530352"/>
          </a:xfrm>
          <a:prstGeom prst="roundRect">
            <a:avLst>
              <a:gd name="adj" fmla="val 8621"/>
            </a:avLst>
          </a:prstGeom>
          <a:solidFill>
            <a:srgbClr val="F2F6F8"/>
          </a:solidFill>
          <a:ln w="12700">
            <a:solidFill>
              <a:srgbClr val="E4EB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" y="357530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09:45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1371600" y="3602736"/>
            <a:ext cx="457200" cy="192024"/>
          </a:xfrm>
          <a:prstGeom prst="roundRect">
            <a:avLst>
              <a:gd name="adj" fmla="val 19048"/>
            </a:avLst>
          </a:prstGeom>
          <a:solidFill>
            <a:srgbClr val="1C6E8C"/>
          </a:solidFill>
          <a:ln w="12700">
            <a:solidFill>
              <a:srgbClr val="1C6E8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71600" y="35935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移動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920240" y="3557016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吳中央碼頭 → 松山觀光港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920240" y="3794760"/>
            <a:ext cx="3895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瀨戶內海汽船 ‧ 手冊載約 1h55m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548640" y="4119372"/>
            <a:ext cx="5394960" cy="530352"/>
          </a:xfrm>
          <a:prstGeom prst="roundRect">
            <a:avLst>
              <a:gd name="adj" fmla="val 8621"/>
            </a:avLst>
          </a:prstGeom>
          <a:solidFill>
            <a:srgbClr val="F2F6F8"/>
          </a:solidFill>
          <a:ln w="12700">
            <a:solidFill>
              <a:srgbClr val="E4EB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6656" y="416509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11:40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1371600" y="4192524"/>
            <a:ext cx="457200" cy="192024"/>
          </a:xfrm>
          <a:prstGeom prst="roundRect">
            <a:avLst>
              <a:gd name="adj" fmla="val 19048"/>
            </a:avLst>
          </a:prstGeom>
          <a:solidFill>
            <a:srgbClr val="1C6E8C"/>
          </a:solidFill>
          <a:ln w="12700">
            <a:solidFill>
              <a:srgbClr val="1C6E8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371600" y="41833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移動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920240" y="4146804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松山觀光港 → 松山城纜車站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1920240" y="4384548"/>
            <a:ext cx="3895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遊覽車 ‧ 10 km</a:t>
            </a:r>
            <a:endParaRPr lang="en-US" sz="880" dirty="0"/>
          </a:p>
        </p:txBody>
      </p:sp>
      <p:sp>
        <p:nvSpPr>
          <p:cNvPr id="44" name="Shape 42"/>
          <p:cNvSpPr/>
          <p:nvPr/>
        </p:nvSpPr>
        <p:spPr>
          <a:xfrm>
            <a:off x="548640" y="4709160"/>
            <a:ext cx="5394960" cy="530352"/>
          </a:xfrm>
          <a:prstGeom prst="roundRect">
            <a:avLst>
              <a:gd name="adj" fmla="val 8621"/>
            </a:avLst>
          </a:prstGeom>
          <a:solidFill>
            <a:srgbClr val="F2F6F8"/>
          </a:solidFill>
          <a:ln w="12700">
            <a:solidFill>
              <a:srgbClr val="E4EB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6656" y="475488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8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12:10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1371600" y="4782312"/>
            <a:ext cx="457200" cy="192024"/>
          </a:xfrm>
          <a:prstGeom prst="roundRect">
            <a:avLst>
              <a:gd name="adj" fmla="val 19048"/>
            </a:avLst>
          </a:prstGeom>
          <a:solidFill>
            <a:srgbClr val="C08327"/>
          </a:solidFill>
          <a:ln w="12700">
            <a:solidFill>
              <a:srgbClr val="C0832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0" y="47731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餐食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920240" y="4736592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午餐：鯛魚飯定食套餐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1920240" y="4974336"/>
            <a:ext cx="3895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¥3,000 ‧ 手冊指定餐</a:t>
            </a:r>
            <a:endParaRPr lang="en-US" sz="880" dirty="0"/>
          </a:p>
        </p:txBody>
      </p:sp>
      <p:sp>
        <p:nvSpPr>
          <p:cNvPr id="50" name="Shape 48"/>
          <p:cNvSpPr/>
          <p:nvPr/>
        </p:nvSpPr>
        <p:spPr>
          <a:xfrm>
            <a:off x="6245352" y="1170432"/>
            <a:ext cx="5394960" cy="530352"/>
          </a:xfrm>
          <a:prstGeom prst="roundRect">
            <a:avLst>
              <a:gd name="adj" fmla="val 8621"/>
            </a:avLst>
          </a:prstGeom>
          <a:solidFill>
            <a:srgbClr val="F2F6F8"/>
          </a:solidFill>
          <a:ln w="12700">
            <a:solidFill>
              <a:srgbClr val="E4EB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73368" y="121615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13:10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7068312" y="1243584"/>
            <a:ext cx="457200" cy="192024"/>
          </a:xfrm>
          <a:prstGeom prst="roundRect">
            <a:avLst>
              <a:gd name="adj" fmla="val 19048"/>
            </a:avLst>
          </a:prstGeom>
          <a:solidFill>
            <a:srgbClr val="C4452F"/>
          </a:solidFill>
          <a:ln w="12700">
            <a:solidFill>
              <a:srgbClr val="C4452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68312" y="12344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景點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616952" y="1197864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松山城（搭廂型纜車登城）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7616952" y="1435608"/>
            <a:ext cx="3895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日本 100 名城 ‧ 天守閣約 60 分</a:t>
            </a:r>
            <a:endParaRPr lang="en-US" sz="880" dirty="0"/>
          </a:p>
        </p:txBody>
      </p:sp>
      <p:sp>
        <p:nvSpPr>
          <p:cNvPr id="56" name="Shape 54"/>
          <p:cNvSpPr/>
          <p:nvPr/>
        </p:nvSpPr>
        <p:spPr>
          <a:xfrm>
            <a:off x="6245352" y="1760220"/>
            <a:ext cx="5394960" cy="530352"/>
          </a:xfrm>
          <a:prstGeom prst="roundRect">
            <a:avLst>
              <a:gd name="adj" fmla="val 8621"/>
            </a:avLst>
          </a:prstGeom>
          <a:solidFill>
            <a:srgbClr val="F2F6F8"/>
          </a:solidFill>
          <a:ln w="12700">
            <a:solidFill>
              <a:srgbClr val="E4EBE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73368" y="180594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14:55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7068312" y="1833372"/>
            <a:ext cx="457200" cy="192024"/>
          </a:xfrm>
          <a:prstGeom prst="roundRect">
            <a:avLst>
              <a:gd name="adj" fmla="val 19048"/>
            </a:avLst>
          </a:prstGeom>
          <a:solidFill>
            <a:srgbClr val="1C6E8C"/>
          </a:solidFill>
          <a:ln w="12700">
            <a:solidFill>
              <a:srgbClr val="1C6E8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068312" y="18242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移動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7616952" y="1787652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松山城 → 道後溫泉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7616952" y="2025396"/>
            <a:ext cx="3895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遊覽車 ‧ 4 km</a:t>
            </a:r>
            <a:endParaRPr lang="en-US" sz="880" dirty="0"/>
          </a:p>
        </p:txBody>
      </p:sp>
      <p:sp>
        <p:nvSpPr>
          <p:cNvPr id="62" name="Shape 60"/>
          <p:cNvSpPr/>
          <p:nvPr/>
        </p:nvSpPr>
        <p:spPr>
          <a:xfrm>
            <a:off x="6245352" y="2350008"/>
            <a:ext cx="5394960" cy="530352"/>
          </a:xfrm>
          <a:prstGeom prst="roundRect">
            <a:avLst>
              <a:gd name="adj" fmla="val 8621"/>
            </a:avLst>
          </a:prstGeom>
          <a:solidFill>
            <a:srgbClr val="F2F6F8"/>
          </a:solidFill>
          <a:ln w="12700">
            <a:solidFill>
              <a:srgbClr val="E4EBE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73368" y="239572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15:15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7068312" y="2423160"/>
            <a:ext cx="457200" cy="192024"/>
          </a:xfrm>
          <a:prstGeom prst="roundRect">
            <a:avLst>
              <a:gd name="adj" fmla="val 19048"/>
            </a:avLst>
          </a:prstGeom>
          <a:solidFill>
            <a:srgbClr val="C4452F"/>
          </a:solidFill>
          <a:ln w="12700">
            <a:solidFill>
              <a:srgbClr val="C4452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068312" y="24140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景點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7616952" y="2377440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道後溫泉本館・溫泉街散策</a:t>
            </a:r>
            <a:endParaRPr lang="en-US" sz="1150" dirty="0"/>
          </a:p>
        </p:txBody>
      </p:sp>
      <p:sp>
        <p:nvSpPr>
          <p:cNvPr id="67" name="Text 65"/>
          <p:cNvSpPr/>
          <p:nvPr/>
        </p:nvSpPr>
        <p:spPr>
          <a:xfrm>
            <a:off x="7616952" y="2615184"/>
            <a:ext cx="3895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日本三大古湯 ‧ 放生園足湯</a:t>
            </a:r>
            <a:endParaRPr lang="en-US" sz="880" dirty="0"/>
          </a:p>
        </p:txBody>
      </p:sp>
      <p:sp>
        <p:nvSpPr>
          <p:cNvPr id="68" name="Shape 66"/>
          <p:cNvSpPr/>
          <p:nvPr/>
        </p:nvSpPr>
        <p:spPr>
          <a:xfrm>
            <a:off x="6245352" y="2939796"/>
            <a:ext cx="5394960" cy="530352"/>
          </a:xfrm>
          <a:prstGeom prst="roundRect">
            <a:avLst>
              <a:gd name="adj" fmla="val 8621"/>
            </a:avLst>
          </a:prstGeom>
          <a:solidFill>
            <a:srgbClr val="F2F6F8"/>
          </a:solidFill>
          <a:ln w="12700">
            <a:solidFill>
              <a:srgbClr val="E4EBE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373368" y="298551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16:45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7068312" y="3012948"/>
            <a:ext cx="457200" cy="192024"/>
          </a:xfrm>
          <a:prstGeom prst="roundRect">
            <a:avLst>
              <a:gd name="adj" fmla="val 19048"/>
            </a:avLst>
          </a:prstGeom>
          <a:solidFill>
            <a:srgbClr val="1C6E8C"/>
          </a:solidFill>
          <a:ln w="12700">
            <a:solidFill>
              <a:srgbClr val="1C6E8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068312" y="30038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移動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7616952" y="2967228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道後溫泉 → 今治</a:t>
            </a:r>
            <a:endParaRPr lang="en-US" sz="1150" dirty="0"/>
          </a:p>
        </p:txBody>
      </p:sp>
      <p:sp>
        <p:nvSpPr>
          <p:cNvPr id="73" name="Text 71"/>
          <p:cNvSpPr/>
          <p:nvPr/>
        </p:nvSpPr>
        <p:spPr>
          <a:xfrm>
            <a:off x="7616952" y="3204972"/>
            <a:ext cx="3895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遊覽車 ‧ 45 km ‧ 松山道／今治小松道</a:t>
            </a:r>
            <a:endParaRPr lang="en-US" sz="880" dirty="0"/>
          </a:p>
        </p:txBody>
      </p:sp>
      <p:sp>
        <p:nvSpPr>
          <p:cNvPr id="74" name="Shape 72"/>
          <p:cNvSpPr/>
          <p:nvPr/>
        </p:nvSpPr>
        <p:spPr>
          <a:xfrm>
            <a:off x="6245352" y="3529584"/>
            <a:ext cx="5394960" cy="530352"/>
          </a:xfrm>
          <a:prstGeom prst="roundRect">
            <a:avLst>
              <a:gd name="adj" fmla="val 8621"/>
            </a:avLst>
          </a:prstGeom>
          <a:solidFill>
            <a:srgbClr val="F2F6F8"/>
          </a:solidFill>
          <a:ln w="12700">
            <a:solidFill>
              <a:srgbClr val="E4EBE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373368" y="357530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4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17:55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7068312" y="3602736"/>
            <a:ext cx="457200" cy="192024"/>
          </a:xfrm>
          <a:prstGeom prst="roundRect">
            <a:avLst>
              <a:gd name="adj" fmla="val 19048"/>
            </a:avLst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068312" y="35935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住宿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7616952" y="3557016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今治國際飯店 入住</a:t>
            </a:r>
            <a:endParaRPr lang="en-US" sz="1150" dirty="0"/>
          </a:p>
        </p:txBody>
      </p:sp>
      <p:sp>
        <p:nvSpPr>
          <p:cNvPr id="79" name="Text 77"/>
          <p:cNvSpPr/>
          <p:nvPr/>
        </p:nvSpPr>
        <p:spPr>
          <a:xfrm>
            <a:off x="7616952" y="3794760"/>
            <a:ext cx="3895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愛媛県今治市旭町 2-3-4</a:t>
            </a:r>
            <a:endParaRPr lang="en-US" sz="880" dirty="0"/>
          </a:p>
        </p:txBody>
      </p:sp>
      <p:sp>
        <p:nvSpPr>
          <p:cNvPr id="80" name="Shape 78"/>
          <p:cNvSpPr/>
          <p:nvPr/>
        </p:nvSpPr>
        <p:spPr>
          <a:xfrm>
            <a:off x="6245352" y="4119372"/>
            <a:ext cx="5394960" cy="530352"/>
          </a:xfrm>
          <a:prstGeom prst="roundRect">
            <a:avLst>
              <a:gd name="adj" fmla="val 8621"/>
            </a:avLst>
          </a:prstGeom>
          <a:solidFill>
            <a:srgbClr val="F2F6F8"/>
          </a:solidFill>
          <a:ln w="12700">
            <a:solidFill>
              <a:srgbClr val="E4EBE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373368" y="416509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8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18:25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7068312" y="4192524"/>
            <a:ext cx="457200" cy="192024"/>
          </a:xfrm>
          <a:prstGeom prst="roundRect">
            <a:avLst>
              <a:gd name="adj" fmla="val 19048"/>
            </a:avLst>
          </a:prstGeom>
          <a:solidFill>
            <a:srgbClr val="C08327"/>
          </a:solidFill>
          <a:ln w="12700">
            <a:solidFill>
              <a:srgbClr val="C08327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068312" y="41833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餐食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7616952" y="4146804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晚餐：飯店內用套餐</a:t>
            </a:r>
            <a:endParaRPr lang="en-US" sz="1150" dirty="0"/>
          </a:p>
        </p:txBody>
      </p:sp>
      <p:sp>
        <p:nvSpPr>
          <p:cNvPr id="85" name="Text 83"/>
          <p:cNvSpPr/>
          <p:nvPr/>
        </p:nvSpPr>
        <p:spPr>
          <a:xfrm>
            <a:off x="7616952" y="4384548"/>
            <a:ext cx="3895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手冊指定餐</a:t>
            </a:r>
            <a:endParaRPr lang="en-US" sz="880" dirty="0"/>
          </a:p>
        </p:txBody>
      </p:sp>
      <p:sp>
        <p:nvSpPr>
          <p:cNvPr id="86" name="Text 84"/>
          <p:cNvSpPr/>
          <p:nvPr/>
        </p:nvSpPr>
        <p:spPr>
          <a:xfrm>
            <a:off x="548640" y="5989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全日為日本時間　｜　航班與集合為手冊明載，其餘時間為依路線距離之推估值，實際以隨團導遊公告為準。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1298448" cy="566928"/>
          </a:xfrm>
          <a:prstGeom prst="roundRect">
            <a:avLst>
              <a:gd name="adj" fmla="val 11290"/>
            </a:avLst>
          </a:prstGeom>
          <a:solidFill>
            <a:srgbClr val="C08327"/>
          </a:solidFill>
          <a:ln w="12700">
            <a:solidFill>
              <a:srgbClr val="C083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3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029968" y="2926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A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09/26 (六)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029968" y="50292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今治 → 高松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595360" y="329184"/>
            <a:ext cx="3044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A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住宿　</a:t>
            </a:r>
            <a:r>
              <a:rPr lang="en-US" sz="1150" b="1" dirty="0">
                <a:solidFill>
                  <a:srgbClr val="C083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JR Hotel Clement 高松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0" y="603504"/>
            <a:ext cx="3410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A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當日行程約 10.1 小時　‧　8 個段落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170432"/>
            <a:ext cx="5394960" cy="530352"/>
          </a:xfrm>
          <a:prstGeom prst="roundRect">
            <a:avLst>
              <a:gd name="adj" fmla="val 8621"/>
            </a:avLst>
          </a:prstGeom>
          <a:solidFill>
            <a:srgbClr val="F2F6F8"/>
          </a:solidFill>
          <a:ln w="12700">
            <a:solidFill>
              <a:srgbClr val="E4EB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121615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8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07:00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71600" y="1243584"/>
            <a:ext cx="457200" cy="192024"/>
          </a:xfrm>
          <a:prstGeom prst="roundRect">
            <a:avLst>
              <a:gd name="adj" fmla="val 19048"/>
            </a:avLst>
          </a:prstGeom>
          <a:solidFill>
            <a:srgbClr val="C08327"/>
          </a:solidFill>
          <a:ln w="12700">
            <a:solidFill>
              <a:srgbClr val="C083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12344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餐食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920240" y="1197864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飯店內早餐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920240" y="1435608"/>
            <a:ext cx="3895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 07:00 早餐、08:45 出發推估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548640" y="1760220"/>
            <a:ext cx="5394960" cy="530352"/>
          </a:xfrm>
          <a:prstGeom prst="roundRect">
            <a:avLst>
              <a:gd name="adj" fmla="val 8621"/>
            </a:avLst>
          </a:prstGeom>
          <a:solidFill>
            <a:srgbClr val="F2F6F8"/>
          </a:solidFill>
          <a:ln w="12700">
            <a:solidFill>
              <a:srgbClr val="E4EB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" y="180594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08:45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371600" y="1833372"/>
            <a:ext cx="457200" cy="192024"/>
          </a:xfrm>
          <a:prstGeom prst="roundRect">
            <a:avLst>
              <a:gd name="adj" fmla="val 19048"/>
            </a:avLst>
          </a:prstGeom>
          <a:solidFill>
            <a:srgbClr val="1C6E8C"/>
          </a:solidFill>
          <a:ln w="12700">
            <a:solidFill>
              <a:srgbClr val="1C6E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18242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移動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920240" y="1787652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今治國際飯店 → 毛巾美術館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920240" y="2025396"/>
            <a:ext cx="3895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遊覽車 ‧ 15 km ‧ 國道196號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548640" y="2350008"/>
            <a:ext cx="5394960" cy="530352"/>
          </a:xfrm>
          <a:prstGeom prst="roundRect">
            <a:avLst>
              <a:gd name="adj" fmla="val 8621"/>
            </a:avLst>
          </a:prstGeom>
          <a:solidFill>
            <a:srgbClr val="F2F6F8"/>
          </a:solidFill>
          <a:ln w="12700">
            <a:solidFill>
              <a:srgbClr val="E4EB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" y="239572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09:15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371600" y="2423160"/>
            <a:ext cx="457200" cy="192024"/>
          </a:xfrm>
          <a:prstGeom prst="roundRect">
            <a:avLst>
              <a:gd name="adj" fmla="val 19048"/>
            </a:avLst>
          </a:prstGeom>
          <a:solidFill>
            <a:srgbClr val="C4452F"/>
          </a:solidFill>
          <a:ln w="12700">
            <a:solidFill>
              <a:srgbClr val="C4452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71600" y="24140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景點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920240" y="2377440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今治毛巾美術館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920240" y="2615184"/>
            <a:ext cx="3895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全球首座毛巾主題美術館 ‧ 歐式庭園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548640" y="2939796"/>
            <a:ext cx="5394960" cy="530352"/>
          </a:xfrm>
          <a:prstGeom prst="roundRect">
            <a:avLst>
              <a:gd name="adj" fmla="val 8621"/>
            </a:avLst>
          </a:prstGeom>
          <a:solidFill>
            <a:srgbClr val="F2F6F8"/>
          </a:solidFill>
          <a:ln w="12700">
            <a:solidFill>
              <a:srgbClr val="E4EB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" y="298551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8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10:50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371600" y="3012948"/>
            <a:ext cx="457200" cy="192024"/>
          </a:xfrm>
          <a:prstGeom prst="roundRect">
            <a:avLst>
              <a:gd name="adj" fmla="val 19048"/>
            </a:avLst>
          </a:prstGeom>
          <a:solidFill>
            <a:srgbClr val="C08327"/>
          </a:solidFill>
          <a:ln w="12700">
            <a:solidFill>
              <a:srgbClr val="C0832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0" y="30038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餐食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920240" y="2967228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午餐：在地風味餐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920240" y="3204972"/>
            <a:ext cx="3895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¥3,000 ‧ 手冊指定餐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6245352" y="1170432"/>
            <a:ext cx="5394960" cy="530352"/>
          </a:xfrm>
          <a:prstGeom prst="roundRect">
            <a:avLst>
              <a:gd name="adj" fmla="val 8621"/>
            </a:avLst>
          </a:prstGeom>
          <a:solidFill>
            <a:srgbClr val="F2F6F8"/>
          </a:solidFill>
          <a:ln w="12700">
            <a:solidFill>
              <a:srgbClr val="E4EB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73368" y="121615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11:50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068312" y="1243584"/>
            <a:ext cx="457200" cy="192024"/>
          </a:xfrm>
          <a:prstGeom prst="roundRect">
            <a:avLst>
              <a:gd name="adj" fmla="val 19048"/>
            </a:avLst>
          </a:prstGeom>
          <a:solidFill>
            <a:srgbClr val="1C6E8C"/>
          </a:solidFill>
          <a:ln w="12700">
            <a:solidFill>
              <a:srgbClr val="1C6E8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68312" y="12344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移動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616952" y="1197864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今治 → 高松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7616952" y="1435608"/>
            <a:ext cx="3895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遊覽車 ‧ 140 km ‧ 含休息站 1 次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6245352" y="1760220"/>
            <a:ext cx="5394960" cy="530352"/>
          </a:xfrm>
          <a:prstGeom prst="roundRect">
            <a:avLst>
              <a:gd name="adj" fmla="val 8621"/>
            </a:avLst>
          </a:prstGeom>
          <a:solidFill>
            <a:srgbClr val="F2F6F8"/>
          </a:solidFill>
          <a:ln w="12700">
            <a:solidFill>
              <a:srgbClr val="E4EB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73368" y="180594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4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14:20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068312" y="1833372"/>
            <a:ext cx="457200" cy="192024"/>
          </a:xfrm>
          <a:prstGeom prst="roundRect">
            <a:avLst>
              <a:gd name="adj" fmla="val 19048"/>
            </a:avLst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68312" y="18242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住宿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616952" y="1787652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JR Hotel Clement 高松 入住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7616952" y="2025396"/>
            <a:ext cx="3895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JR 高松站旁 ‧ 放行李</a:t>
            </a:r>
            <a:endParaRPr lang="en-US" sz="880" dirty="0"/>
          </a:p>
        </p:txBody>
      </p:sp>
      <p:sp>
        <p:nvSpPr>
          <p:cNvPr id="44" name="Shape 42"/>
          <p:cNvSpPr/>
          <p:nvPr/>
        </p:nvSpPr>
        <p:spPr>
          <a:xfrm>
            <a:off x="6245352" y="2350008"/>
            <a:ext cx="5394960" cy="530352"/>
          </a:xfrm>
          <a:prstGeom prst="roundRect">
            <a:avLst>
              <a:gd name="adj" fmla="val 8621"/>
            </a:avLst>
          </a:prstGeom>
          <a:solidFill>
            <a:srgbClr val="F2F6F8"/>
          </a:solidFill>
          <a:ln w="12700">
            <a:solidFill>
              <a:srgbClr val="E4EB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73368" y="239572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14:50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7068312" y="2423160"/>
            <a:ext cx="457200" cy="192024"/>
          </a:xfrm>
          <a:prstGeom prst="roundRect">
            <a:avLst>
              <a:gd name="adj" fmla="val 19048"/>
            </a:avLst>
          </a:prstGeom>
          <a:solidFill>
            <a:srgbClr val="2E8B6F"/>
          </a:solidFill>
          <a:ln w="12700">
            <a:solidFill>
              <a:srgbClr val="2E8B6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68312" y="24140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自由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616952" y="2377440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高松中央（丸龜町）商店街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7616952" y="2615184"/>
            <a:ext cx="3895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180 分 ‧ 日本最長拱廊商店街 ‧ 步行 10 分</a:t>
            </a:r>
            <a:endParaRPr lang="en-US" sz="880" dirty="0"/>
          </a:p>
        </p:txBody>
      </p:sp>
      <p:sp>
        <p:nvSpPr>
          <p:cNvPr id="50" name="Shape 48"/>
          <p:cNvSpPr/>
          <p:nvPr/>
        </p:nvSpPr>
        <p:spPr>
          <a:xfrm>
            <a:off x="6245352" y="2939796"/>
            <a:ext cx="5394960" cy="530352"/>
          </a:xfrm>
          <a:prstGeom prst="roundRect">
            <a:avLst>
              <a:gd name="adj" fmla="val 8621"/>
            </a:avLst>
          </a:prstGeom>
          <a:solidFill>
            <a:srgbClr val="F2F6F8"/>
          </a:solidFill>
          <a:ln w="12700">
            <a:solidFill>
              <a:srgbClr val="E4EB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73368" y="298551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8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17:50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7068312" y="3012948"/>
            <a:ext cx="457200" cy="192024"/>
          </a:xfrm>
          <a:prstGeom prst="roundRect">
            <a:avLst>
              <a:gd name="adj" fmla="val 19048"/>
            </a:avLst>
          </a:prstGeom>
          <a:solidFill>
            <a:srgbClr val="C08327"/>
          </a:solidFill>
          <a:ln w="12700">
            <a:solidFill>
              <a:srgbClr val="C0832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68312" y="30038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餐食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616952" y="2967228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晚餐：發放代金 ¥5,000 自理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7616952" y="3204972"/>
            <a:ext cx="3895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獅子通居酒屋、拉麵店集中</a:t>
            </a:r>
            <a:endParaRPr lang="en-US" sz="880" dirty="0"/>
          </a:p>
        </p:txBody>
      </p:sp>
      <p:sp>
        <p:nvSpPr>
          <p:cNvPr id="56" name="Text 54"/>
          <p:cNvSpPr/>
          <p:nvPr/>
        </p:nvSpPr>
        <p:spPr>
          <a:xfrm>
            <a:off x="548640" y="5989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全日為日本時間　｜　航班與集合為手冊明載，其餘時間為依路線距離之推估值，實際以隨團導遊公告為準。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1298448" cy="566928"/>
          </a:xfrm>
          <a:prstGeom prst="roundRect">
            <a:avLst>
              <a:gd name="adj" fmla="val 11290"/>
            </a:avLst>
          </a:prstGeom>
          <a:solidFill>
            <a:srgbClr val="C4452F"/>
          </a:solidFill>
          <a:ln w="12700">
            <a:solidFill>
              <a:srgbClr val="C445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4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029968" y="2926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A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09/27 (日)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029968" y="50292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高松 → 坂出 → 琴平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595360" y="329184"/>
            <a:ext cx="3044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A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住宿　</a:t>
            </a:r>
            <a:r>
              <a:rPr lang="en-US" sz="1150" b="1" dirty="0">
                <a:solidFill>
                  <a:srgbClr val="C445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琴平溫泉 琴參閣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0" y="603504"/>
            <a:ext cx="3410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A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當日行程約 12.5 小時　‧　10 個段落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170432"/>
            <a:ext cx="5394960" cy="530352"/>
          </a:xfrm>
          <a:prstGeom prst="roundRect">
            <a:avLst>
              <a:gd name="adj" fmla="val 8621"/>
            </a:avLst>
          </a:prstGeom>
          <a:solidFill>
            <a:srgbClr val="F2F6F8"/>
          </a:solidFill>
          <a:ln w="12700">
            <a:solidFill>
              <a:srgbClr val="E4EB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121615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8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07:00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71600" y="1243584"/>
            <a:ext cx="457200" cy="192024"/>
          </a:xfrm>
          <a:prstGeom prst="roundRect">
            <a:avLst>
              <a:gd name="adj" fmla="val 19048"/>
            </a:avLst>
          </a:prstGeom>
          <a:solidFill>
            <a:srgbClr val="C08327"/>
          </a:solidFill>
          <a:ln w="12700">
            <a:solidFill>
              <a:srgbClr val="C083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12344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餐食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920240" y="1197864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飯店內早餐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920240" y="1435608"/>
            <a:ext cx="3895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 07:00 早餐、08:30 出發推估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548640" y="1760220"/>
            <a:ext cx="5394960" cy="530352"/>
          </a:xfrm>
          <a:prstGeom prst="roundRect">
            <a:avLst>
              <a:gd name="adj" fmla="val 8621"/>
            </a:avLst>
          </a:prstGeom>
          <a:solidFill>
            <a:srgbClr val="F2F6F8"/>
          </a:solidFill>
          <a:ln w="12700">
            <a:solidFill>
              <a:srgbClr val="E4EB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" y="180594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08:30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371600" y="1833372"/>
            <a:ext cx="457200" cy="192024"/>
          </a:xfrm>
          <a:prstGeom prst="roundRect">
            <a:avLst>
              <a:gd name="adj" fmla="val 19048"/>
            </a:avLst>
          </a:prstGeom>
          <a:solidFill>
            <a:srgbClr val="1C6E8C"/>
          </a:solidFill>
          <a:ln w="12700">
            <a:solidFill>
              <a:srgbClr val="1C6E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18242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移動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920240" y="1787652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高松 → 坂出 瀨戶大橋紀念公園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920240" y="2025396"/>
            <a:ext cx="3895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遊覽車 ‧ 30 km ‧ 坂出北IC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548640" y="2350008"/>
            <a:ext cx="5394960" cy="530352"/>
          </a:xfrm>
          <a:prstGeom prst="roundRect">
            <a:avLst>
              <a:gd name="adj" fmla="val 8621"/>
            </a:avLst>
          </a:prstGeom>
          <a:solidFill>
            <a:srgbClr val="F2F6F8"/>
          </a:solidFill>
          <a:ln w="12700">
            <a:solidFill>
              <a:srgbClr val="E4EB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" y="239572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09:15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371600" y="2423160"/>
            <a:ext cx="457200" cy="192024"/>
          </a:xfrm>
          <a:prstGeom prst="roundRect">
            <a:avLst>
              <a:gd name="adj" fmla="val 19048"/>
            </a:avLst>
          </a:prstGeom>
          <a:solidFill>
            <a:srgbClr val="C4452F"/>
          </a:solidFill>
          <a:ln w="12700">
            <a:solidFill>
              <a:srgbClr val="C4452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71600" y="24140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景點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920240" y="2377440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瀨戶大橋紀念館・瀨戶大橋塔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920240" y="2615184"/>
            <a:ext cx="3895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360° 旋轉展望台 ‧ 一輪約 10 分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548640" y="2939796"/>
            <a:ext cx="5394960" cy="530352"/>
          </a:xfrm>
          <a:prstGeom prst="roundRect">
            <a:avLst>
              <a:gd name="adj" fmla="val 8621"/>
            </a:avLst>
          </a:prstGeom>
          <a:solidFill>
            <a:srgbClr val="F2F6F8"/>
          </a:solidFill>
          <a:ln w="12700">
            <a:solidFill>
              <a:srgbClr val="E4EB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" y="298551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10:45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371600" y="3012948"/>
            <a:ext cx="457200" cy="192024"/>
          </a:xfrm>
          <a:prstGeom prst="roundRect">
            <a:avLst>
              <a:gd name="adj" fmla="val 19048"/>
            </a:avLst>
          </a:prstGeom>
          <a:solidFill>
            <a:srgbClr val="1C6E8C"/>
          </a:solidFill>
          <a:ln w="12700">
            <a:solidFill>
              <a:srgbClr val="1C6E8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0" y="30038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移動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920240" y="2967228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坂出 → 琴平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920240" y="3204972"/>
            <a:ext cx="3895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遊覽車 ‧ 25 km ‧ 國道32號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548640" y="3529584"/>
            <a:ext cx="5394960" cy="530352"/>
          </a:xfrm>
          <a:prstGeom prst="roundRect">
            <a:avLst>
              <a:gd name="adj" fmla="val 8621"/>
            </a:avLst>
          </a:prstGeom>
          <a:solidFill>
            <a:srgbClr val="F2F6F8"/>
          </a:solidFill>
          <a:ln w="12700">
            <a:solidFill>
              <a:srgbClr val="E4EB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" y="357530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8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11:30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1371600" y="3602736"/>
            <a:ext cx="457200" cy="192024"/>
          </a:xfrm>
          <a:prstGeom prst="roundRect">
            <a:avLst>
              <a:gd name="adj" fmla="val 19048"/>
            </a:avLst>
          </a:prstGeom>
          <a:solidFill>
            <a:srgbClr val="C08327"/>
          </a:solidFill>
          <a:ln w="12700">
            <a:solidFill>
              <a:srgbClr val="C0832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71600" y="35935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餐食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920240" y="3557016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午餐：讚岐烏龍麵套餐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920240" y="3794760"/>
            <a:ext cx="3895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¥2,200 ‧ 手冊指定餐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6245352" y="1170432"/>
            <a:ext cx="5394960" cy="530352"/>
          </a:xfrm>
          <a:prstGeom prst="roundRect">
            <a:avLst>
              <a:gd name="adj" fmla="val 8621"/>
            </a:avLst>
          </a:prstGeom>
          <a:solidFill>
            <a:srgbClr val="F2F6F8"/>
          </a:solidFill>
          <a:ln w="12700">
            <a:solidFill>
              <a:srgbClr val="E4EB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73368" y="121615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12:30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068312" y="1243584"/>
            <a:ext cx="457200" cy="192024"/>
          </a:xfrm>
          <a:prstGeom prst="roundRect">
            <a:avLst>
              <a:gd name="adj" fmla="val 19048"/>
            </a:avLst>
          </a:prstGeom>
          <a:solidFill>
            <a:srgbClr val="C4452F"/>
          </a:solidFill>
          <a:ln w="12700">
            <a:solidFill>
              <a:srgbClr val="C4452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68312" y="12344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景點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616952" y="1197864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金刀比羅宮 參拜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7616952" y="1435608"/>
            <a:ext cx="3895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御本宮 785 階 ‧ 來回約 2 小時</a:t>
            </a:r>
            <a:endParaRPr lang="en-US" sz="880" dirty="0"/>
          </a:p>
        </p:txBody>
      </p:sp>
      <p:sp>
        <p:nvSpPr>
          <p:cNvPr id="44" name="Shape 42"/>
          <p:cNvSpPr/>
          <p:nvPr/>
        </p:nvSpPr>
        <p:spPr>
          <a:xfrm>
            <a:off x="6245352" y="1760220"/>
            <a:ext cx="5394960" cy="530352"/>
          </a:xfrm>
          <a:prstGeom prst="roundRect">
            <a:avLst>
              <a:gd name="adj" fmla="val 8621"/>
            </a:avLst>
          </a:prstGeom>
          <a:solidFill>
            <a:srgbClr val="F2F6F8"/>
          </a:solidFill>
          <a:ln w="12700">
            <a:solidFill>
              <a:srgbClr val="E4EB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73368" y="180594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16:00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7068312" y="1833372"/>
            <a:ext cx="457200" cy="192024"/>
          </a:xfrm>
          <a:prstGeom prst="roundRect">
            <a:avLst>
              <a:gd name="adj" fmla="val 19048"/>
            </a:avLst>
          </a:prstGeom>
          <a:solidFill>
            <a:srgbClr val="1C6E8C"/>
          </a:solidFill>
          <a:ln w="12700">
            <a:solidFill>
              <a:srgbClr val="1C6E8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68312" y="18242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移動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616952" y="1787652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金刀比羅宮 → 琴參閣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7616952" y="2025396"/>
            <a:ext cx="3895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1 km</a:t>
            </a:r>
            <a:endParaRPr lang="en-US" sz="880" dirty="0"/>
          </a:p>
        </p:txBody>
      </p:sp>
      <p:sp>
        <p:nvSpPr>
          <p:cNvPr id="50" name="Shape 48"/>
          <p:cNvSpPr/>
          <p:nvPr/>
        </p:nvSpPr>
        <p:spPr>
          <a:xfrm>
            <a:off x="6245352" y="2350008"/>
            <a:ext cx="5394960" cy="530352"/>
          </a:xfrm>
          <a:prstGeom prst="roundRect">
            <a:avLst>
              <a:gd name="adj" fmla="val 8621"/>
            </a:avLst>
          </a:prstGeom>
          <a:solidFill>
            <a:srgbClr val="F2F6F8"/>
          </a:solidFill>
          <a:ln w="12700">
            <a:solidFill>
              <a:srgbClr val="E4EB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73368" y="239572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4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16:15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7068312" y="2423160"/>
            <a:ext cx="457200" cy="192024"/>
          </a:xfrm>
          <a:prstGeom prst="roundRect">
            <a:avLst>
              <a:gd name="adj" fmla="val 19048"/>
            </a:avLst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68312" y="24140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住宿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616952" y="2377440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琴平溫泉 琴參閣 入住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7616952" y="2615184"/>
            <a:ext cx="3895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香川県仲多度郡琴平町 685-11</a:t>
            </a:r>
            <a:endParaRPr lang="en-US" sz="880" dirty="0"/>
          </a:p>
        </p:txBody>
      </p:sp>
      <p:sp>
        <p:nvSpPr>
          <p:cNvPr id="56" name="Shape 54"/>
          <p:cNvSpPr/>
          <p:nvPr/>
        </p:nvSpPr>
        <p:spPr>
          <a:xfrm>
            <a:off x="6245352" y="2939796"/>
            <a:ext cx="5394960" cy="530352"/>
          </a:xfrm>
          <a:prstGeom prst="roundRect">
            <a:avLst>
              <a:gd name="adj" fmla="val 8621"/>
            </a:avLst>
          </a:prstGeom>
          <a:solidFill>
            <a:srgbClr val="F2F6F8"/>
          </a:solidFill>
          <a:ln w="12700">
            <a:solidFill>
              <a:srgbClr val="E4EBE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73368" y="298551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16:45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7068312" y="3012948"/>
            <a:ext cx="457200" cy="192024"/>
          </a:xfrm>
          <a:prstGeom prst="roundRect">
            <a:avLst>
              <a:gd name="adj" fmla="val 19048"/>
            </a:avLst>
          </a:prstGeom>
          <a:solidFill>
            <a:srgbClr val="2E8B6F"/>
          </a:solidFill>
          <a:ln w="12700">
            <a:solidFill>
              <a:srgbClr val="2E8B6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068312" y="30038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自由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7616952" y="2967228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溫泉入浴（大浴場）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7616952" y="3204972"/>
            <a:ext cx="3895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75 分 ‧ 入浴前先淋浴洗淨</a:t>
            </a:r>
            <a:endParaRPr lang="en-US" sz="880" dirty="0"/>
          </a:p>
        </p:txBody>
      </p:sp>
      <p:sp>
        <p:nvSpPr>
          <p:cNvPr id="62" name="Shape 60"/>
          <p:cNvSpPr/>
          <p:nvPr/>
        </p:nvSpPr>
        <p:spPr>
          <a:xfrm>
            <a:off x="6245352" y="3529584"/>
            <a:ext cx="5394960" cy="530352"/>
          </a:xfrm>
          <a:prstGeom prst="roundRect">
            <a:avLst>
              <a:gd name="adj" fmla="val 8621"/>
            </a:avLst>
          </a:prstGeom>
          <a:solidFill>
            <a:srgbClr val="F2F6F8"/>
          </a:solidFill>
          <a:ln w="12700">
            <a:solidFill>
              <a:srgbClr val="E4EBE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73368" y="357530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8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18:00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7068312" y="3602736"/>
            <a:ext cx="457200" cy="192024"/>
          </a:xfrm>
          <a:prstGeom prst="roundRect">
            <a:avLst>
              <a:gd name="adj" fmla="val 19048"/>
            </a:avLst>
          </a:prstGeom>
          <a:solidFill>
            <a:srgbClr val="C08327"/>
          </a:solidFill>
          <a:ln w="12700">
            <a:solidFill>
              <a:srgbClr val="C0832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068312" y="35935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餐食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7616952" y="3557016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晚餐：溫泉會席餐（晚宴）</a:t>
            </a:r>
            <a:endParaRPr lang="en-US" sz="1150" dirty="0"/>
          </a:p>
        </p:txBody>
      </p:sp>
      <p:sp>
        <p:nvSpPr>
          <p:cNvPr id="67" name="Text 65"/>
          <p:cNvSpPr/>
          <p:nvPr/>
        </p:nvSpPr>
        <p:spPr>
          <a:xfrm>
            <a:off x="7616952" y="3794760"/>
            <a:ext cx="3895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手冊指定餐</a:t>
            </a:r>
            <a:endParaRPr lang="en-US" sz="880" dirty="0"/>
          </a:p>
        </p:txBody>
      </p:sp>
      <p:sp>
        <p:nvSpPr>
          <p:cNvPr id="68" name="Text 66"/>
          <p:cNvSpPr/>
          <p:nvPr/>
        </p:nvSpPr>
        <p:spPr>
          <a:xfrm>
            <a:off x="548640" y="5989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全日為日本時間　｜　航班與集合為手冊明載，其餘時間為依路線距離之推估值，實際以隨團導遊公告為準。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1298448" cy="566928"/>
          </a:xfrm>
          <a:prstGeom prst="roundRect">
            <a:avLst>
              <a:gd name="adj" fmla="val 11290"/>
            </a:avLst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5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029968" y="2926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A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09/28 (一)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029968" y="50292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琴平 → 高松 → 高松機場 → 桃園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595360" y="329184"/>
            <a:ext cx="3044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A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住宿　</a:t>
            </a:r>
            <a:r>
              <a:rPr lang="en-US" sz="1150" b="1" dirty="0">
                <a:solidFill>
                  <a:srgbClr val="5B4B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溫暖的家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0" y="603504"/>
            <a:ext cx="3410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A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當日行程約 14.3 小時　‧　11 個段落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170432"/>
            <a:ext cx="5394960" cy="530352"/>
          </a:xfrm>
          <a:prstGeom prst="roundRect">
            <a:avLst>
              <a:gd name="adj" fmla="val 8621"/>
            </a:avLst>
          </a:prstGeom>
          <a:solidFill>
            <a:srgbClr val="F2F6F8"/>
          </a:solidFill>
          <a:ln w="12700">
            <a:solidFill>
              <a:srgbClr val="E4EB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121615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8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07:00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71600" y="1243584"/>
            <a:ext cx="457200" cy="192024"/>
          </a:xfrm>
          <a:prstGeom prst="roundRect">
            <a:avLst>
              <a:gd name="adj" fmla="val 19048"/>
            </a:avLst>
          </a:prstGeom>
          <a:solidFill>
            <a:srgbClr val="C08327"/>
          </a:solidFill>
          <a:ln w="12700">
            <a:solidFill>
              <a:srgbClr val="C083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12344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餐食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920240" y="1197864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飯店內早餐、退房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920240" y="1435608"/>
            <a:ext cx="3895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 07:00 早餐、08:30 出發推估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548640" y="1760220"/>
            <a:ext cx="5394960" cy="530352"/>
          </a:xfrm>
          <a:prstGeom prst="roundRect">
            <a:avLst>
              <a:gd name="adj" fmla="val 8621"/>
            </a:avLst>
          </a:prstGeom>
          <a:solidFill>
            <a:srgbClr val="F2F6F8"/>
          </a:solidFill>
          <a:ln w="12700">
            <a:solidFill>
              <a:srgbClr val="E4EB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" y="180594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08:30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371600" y="1833372"/>
            <a:ext cx="457200" cy="192024"/>
          </a:xfrm>
          <a:prstGeom prst="roundRect">
            <a:avLst>
              <a:gd name="adj" fmla="val 19048"/>
            </a:avLst>
          </a:prstGeom>
          <a:solidFill>
            <a:srgbClr val="1C6E8C"/>
          </a:solidFill>
          <a:ln w="12700">
            <a:solidFill>
              <a:srgbClr val="1C6E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18242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移動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920240" y="1787652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琴平溫泉 → 善通寺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920240" y="2025396"/>
            <a:ext cx="3895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遊覽車 ‧ 6 km ‧ 國道319號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548640" y="2350008"/>
            <a:ext cx="5394960" cy="530352"/>
          </a:xfrm>
          <a:prstGeom prst="roundRect">
            <a:avLst>
              <a:gd name="adj" fmla="val 8621"/>
            </a:avLst>
          </a:prstGeom>
          <a:solidFill>
            <a:srgbClr val="F2F6F8"/>
          </a:solidFill>
          <a:ln w="12700">
            <a:solidFill>
              <a:srgbClr val="E4EB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" y="239572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08:50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371600" y="2423160"/>
            <a:ext cx="457200" cy="192024"/>
          </a:xfrm>
          <a:prstGeom prst="roundRect">
            <a:avLst>
              <a:gd name="adj" fmla="val 19048"/>
            </a:avLst>
          </a:prstGeom>
          <a:solidFill>
            <a:srgbClr val="C4452F"/>
          </a:solidFill>
          <a:ln w="12700">
            <a:solidFill>
              <a:srgbClr val="C4452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71600" y="24140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景點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920240" y="2377440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善通寺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920240" y="2615184"/>
            <a:ext cx="3895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四國八十八所第 75 番 ‧ 空海誕生地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548640" y="2939796"/>
            <a:ext cx="5394960" cy="530352"/>
          </a:xfrm>
          <a:prstGeom prst="roundRect">
            <a:avLst>
              <a:gd name="adj" fmla="val 8621"/>
            </a:avLst>
          </a:prstGeom>
          <a:solidFill>
            <a:srgbClr val="F2F6F8"/>
          </a:solidFill>
          <a:ln w="12700">
            <a:solidFill>
              <a:srgbClr val="E4EB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" y="298551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371600" y="3012948"/>
            <a:ext cx="457200" cy="192024"/>
          </a:xfrm>
          <a:prstGeom prst="roundRect">
            <a:avLst>
              <a:gd name="adj" fmla="val 19048"/>
            </a:avLst>
          </a:prstGeom>
          <a:solidFill>
            <a:srgbClr val="1C6E8C"/>
          </a:solidFill>
          <a:ln w="12700">
            <a:solidFill>
              <a:srgbClr val="1C6E8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0" y="30038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移動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920240" y="2967228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善通寺 → 高松市區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920240" y="3204972"/>
            <a:ext cx="3895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遊覽車 ‧ 40 km ‧ 高松自動車道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548640" y="3529584"/>
            <a:ext cx="5394960" cy="530352"/>
          </a:xfrm>
          <a:prstGeom prst="roundRect">
            <a:avLst>
              <a:gd name="adj" fmla="val 8621"/>
            </a:avLst>
          </a:prstGeom>
          <a:solidFill>
            <a:srgbClr val="F2F6F8"/>
          </a:solidFill>
          <a:ln w="12700">
            <a:solidFill>
              <a:srgbClr val="E4EB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" y="357530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10:55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1371600" y="3602736"/>
            <a:ext cx="457200" cy="192024"/>
          </a:xfrm>
          <a:prstGeom prst="roundRect">
            <a:avLst>
              <a:gd name="adj" fmla="val 19048"/>
            </a:avLst>
          </a:prstGeom>
          <a:solidFill>
            <a:srgbClr val="2E8B6F"/>
          </a:solidFill>
          <a:ln w="12700">
            <a:solidFill>
              <a:srgbClr val="2E8B6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71600" y="35935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自由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920240" y="3557016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高松中央商店街 午餐＋自由活動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920240" y="3794760"/>
            <a:ext cx="3895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180 分 ‧ 午餐自理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548640" y="4119372"/>
            <a:ext cx="5394960" cy="530352"/>
          </a:xfrm>
          <a:prstGeom prst="roundRect">
            <a:avLst>
              <a:gd name="adj" fmla="val 8621"/>
            </a:avLst>
          </a:prstGeom>
          <a:solidFill>
            <a:srgbClr val="F2F6F8"/>
          </a:solidFill>
          <a:ln w="12700">
            <a:solidFill>
              <a:srgbClr val="E4EB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6656" y="416509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13:55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1371600" y="4192524"/>
            <a:ext cx="457200" cy="192024"/>
          </a:xfrm>
          <a:prstGeom prst="roundRect">
            <a:avLst>
              <a:gd name="adj" fmla="val 19048"/>
            </a:avLst>
          </a:prstGeom>
          <a:solidFill>
            <a:srgbClr val="1C6E8C"/>
          </a:solidFill>
          <a:ln w="12700">
            <a:solidFill>
              <a:srgbClr val="1C6E8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371600" y="41833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移動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920240" y="4146804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高松中央商店街 → 栗林公園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1920240" y="4384548"/>
            <a:ext cx="3895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遊覽車 ‧ 3 km</a:t>
            </a:r>
            <a:endParaRPr lang="en-US" sz="880" dirty="0"/>
          </a:p>
        </p:txBody>
      </p:sp>
      <p:sp>
        <p:nvSpPr>
          <p:cNvPr id="44" name="Shape 42"/>
          <p:cNvSpPr/>
          <p:nvPr/>
        </p:nvSpPr>
        <p:spPr>
          <a:xfrm>
            <a:off x="6245352" y="1170432"/>
            <a:ext cx="5394960" cy="530352"/>
          </a:xfrm>
          <a:prstGeom prst="roundRect">
            <a:avLst>
              <a:gd name="adj" fmla="val 8621"/>
            </a:avLst>
          </a:prstGeom>
          <a:solidFill>
            <a:srgbClr val="F2F6F8"/>
          </a:solidFill>
          <a:ln w="12700">
            <a:solidFill>
              <a:srgbClr val="E4EB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73368" y="121615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14:10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7068312" y="1243584"/>
            <a:ext cx="457200" cy="192024"/>
          </a:xfrm>
          <a:prstGeom prst="roundRect">
            <a:avLst>
              <a:gd name="adj" fmla="val 19048"/>
            </a:avLst>
          </a:prstGeom>
          <a:solidFill>
            <a:srgbClr val="C4452F"/>
          </a:solidFill>
          <a:ln w="12700">
            <a:solidFill>
              <a:srgbClr val="C4452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68312" y="12344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景點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616952" y="1197864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栗林公園（抹茶＋和菓子）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7616952" y="1435608"/>
            <a:ext cx="3895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米其林三星 ‧ 六水池十三假山</a:t>
            </a:r>
            <a:endParaRPr lang="en-US" sz="880" dirty="0"/>
          </a:p>
        </p:txBody>
      </p:sp>
      <p:sp>
        <p:nvSpPr>
          <p:cNvPr id="50" name="Shape 48"/>
          <p:cNvSpPr/>
          <p:nvPr/>
        </p:nvSpPr>
        <p:spPr>
          <a:xfrm>
            <a:off x="6245352" y="1760220"/>
            <a:ext cx="5394960" cy="530352"/>
          </a:xfrm>
          <a:prstGeom prst="roundRect">
            <a:avLst>
              <a:gd name="adj" fmla="val 8621"/>
            </a:avLst>
          </a:prstGeom>
          <a:solidFill>
            <a:srgbClr val="F2F6F8"/>
          </a:solidFill>
          <a:ln w="12700">
            <a:solidFill>
              <a:srgbClr val="E4EB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73368" y="180594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15:50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7068312" y="1833372"/>
            <a:ext cx="457200" cy="192024"/>
          </a:xfrm>
          <a:prstGeom prst="roundRect">
            <a:avLst>
              <a:gd name="adj" fmla="val 19048"/>
            </a:avLst>
          </a:prstGeom>
          <a:solidFill>
            <a:srgbClr val="1C6E8C"/>
          </a:solidFill>
          <a:ln w="12700">
            <a:solidFill>
              <a:srgbClr val="1C6E8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68312" y="18242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移動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616952" y="1787652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栗林公園 → 高松機場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7616952" y="2025396"/>
            <a:ext cx="3895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遊覽車 ‧ 15 km</a:t>
            </a:r>
            <a:endParaRPr lang="en-US" sz="880" dirty="0"/>
          </a:p>
        </p:txBody>
      </p:sp>
      <p:sp>
        <p:nvSpPr>
          <p:cNvPr id="56" name="Shape 54"/>
          <p:cNvSpPr/>
          <p:nvPr/>
        </p:nvSpPr>
        <p:spPr>
          <a:xfrm>
            <a:off x="6245352" y="2350008"/>
            <a:ext cx="5394960" cy="530352"/>
          </a:xfrm>
          <a:prstGeom prst="roundRect">
            <a:avLst>
              <a:gd name="adj" fmla="val 8621"/>
            </a:avLst>
          </a:prstGeom>
          <a:solidFill>
            <a:srgbClr val="F2F6F8"/>
          </a:solidFill>
          <a:ln w="12700">
            <a:solidFill>
              <a:srgbClr val="E4EBE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73368" y="239572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16:20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7068312" y="2423160"/>
            <a:ext cx="457200" cy="192024"/>
          </a:xfrm>
          <a:prstGeom prst="roundRect">
            <a:avLst>
              <a:gd name="adj" fmla="val 19048"/>
            </a:avLst>
          </a:prstGeom>
          <a:solidFill>
            <a:srgbClr val="6B7A85"/>
          </a:solidFill>
          <a:ln w="12700">
            <a:solidFill>
              <a:srgbClr val="6B7A8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068312" y="24140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手續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7616952" y="2377440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高松機場 報到、出境、候機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7616952" y="2615184"/>
            <a:ext cx="3895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緩衝 165 分 ‧ 建議至少保留 120 分</a:t>
            </a:r>
            <a:endParaRPr lang="en-US" sz="880" dirty="0"/>
          </a:p>
        </p:txBody>
      </p:sp>
      <p:sp>
        <p:nvSpPr>
          <p:cNvPr id="62" name="Shape 60"/>
          <p:cNvSpPr/>
          <p:nvPr/>
        </p:nvSpPr>
        <p:spPr>
          <a:xfrm>
            <a:off x="6245352" y="2939796"/>
            <a:ext cx="5394960" cy="530352"/>
          </a:xfrm>
          <a:prstGeom prst="roundRect">
            <a:avLst>
              <a:gd name="adj" fmla="val 8621"/>
            </a:avLst>
          </a:prstGeom>
          <a:solidFill>
            <a:srgbClr val="F2F6F8"/>
          </a:solidFill>
          <a:ln w="12700">
            <a:solidFill>
              <a:srgbClr val="E4EBE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73368" y="298551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19:05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7068312" y="3012948"/>
            <a:ext cx="457200" cy="192024"/>
          </a:xfrm>
          <a:prstGeom prst="roundRect">
            <a:avLst>
              <a:gd name="adj" fmla="val 19048"/>
            </a:avLst>
          </a:prstGeom>
          <a:solidFill>
            <a:srgbClr val="0E2A3B"/>
          </a:solidFill>
          <a:ln w="12700">
            <a:solidFill>
              <a:srgbClr val="0E2A3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068312" y="30038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航班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7616952" y="2967228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 179　TAK → TPE</a:t>
            </a:r>
            <a:endParaRPr lang="en-US" sz="1150" dirty="0"/>
          </a:p>
        </p:txBody>
      </p:sp>
      <p:sp>
        <p:nvSpPr>
          <p:cNvPr id="67" name="Text 65"/>
          <p:cNvSpPr/>
          <p:nvPr/>
        </p:nvSpPr>
        <p:spPr>
          <a:xfrm>
            <a:off x="7616952" y="3204972"/>
            <a:ext cx="3895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飛行 2h40m ‧ 20:55 抵台（台灣時間）</a:t>
            </a:r>
            <a:endParaRPr lang="en-US" sz="880" dirty="0"/>
          </a:p>
        </p:txBody>
      </p:sp>
      <p:sp>
        <p:nvSpPr>
          <p:cNvPr id="68" name="Shape 66"/>
          <p:cNvSpPr/>
          <p:nvPr/>
        </p:nvSpPr>
        <p:spPr>
          <a:xfrm>
            <a:off x="6245352" y="3529584"/>
            <a:ext cx="5394960" cy="530352"/>
          </a:xfrm>
          <a:prstGeom prst="roundRect">
            <a:avLst>
              <a:gd name="adj" fmla="val 8621"/>
            </a:avLst>
          </a:prstGeom>
          <a:solidFill>
            <a:srgbClr val="F2F6F8"/>
          </a:solidFill>
          <a:ln w="12700">
            <a:solidFill>
              <a:srgbClr val="E4EBE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373368" y="357530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20:55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7068312" y="3602736"/>
            <a:ext cx="457200" cy="192024"/>
          </a:xfrm>
          <a:prstGeom prst="roundRect">
            <a:avLst>
              <a:gd name="adj" fmla="val 19048"/>
            </a:avLst>
          </a:prstGeom>
          <a:solidFill>
            <a:srgbClr val="6B7A85"/>
          </a:solidFill>
          <a:ln w="12700">
            <a:solidFill>
              <a:srgbClr val="6B7A8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068312" y="35935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集合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7616952" y="3557016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桃園機場 入境、解散</a:t>
            </a:r>
            <a:endParaRPr lang="en-US" sz="1150" dirty="0"/>
          </a:p>
        </p:txBody>
      </p:sp>
      <p:sp>
        <p:nvSpPr>
          <p:cNvPr id="73" name="Text 71"/>
          <p:cNvSpPr/>
          <p:nvPr/>
        </p:nvSpPr>
        <p:spPr>
          <a:xfrm>
            <a:off x="7616952" y="3794760"/>
            <a:ext cx="3895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回程接駁</a:t>
            </a:r>
            <a:endParaRPr lang="en-US" sz="880" dirty="0"/>
          </a:p>
        </p:txBody>
      </p:sp>
      <p:sp>
        <p:nvSpPr>
          <p:cNvPr id="74" name="Text 72"/>
          <p:cNvSpPr/>
          <p:nvPr/>
        </p:nvSpPr>
        <p:spPr>
          <a:xfrm>
            <a:off x="548640" y="5989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19:05 起飛為日本時間，20:55 抵達為台灣時間　｜　航班與集合為手冊明載，其餘時間為依路線距離之推估值，實際以隨團導遊公告為準。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行程節奏與時間配置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863840" y="384048"/>
            <a:ext cx="3776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A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以時間表推估值計算</a:t>
            </a:r>
            <a:endParaRPr lang="en-US" sz="11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143000"/>
          <a:ext cx="68580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726680" y="1143000"/>
            <a:ext cx="3913632" cy="914400"/>
          </a:xfrm>
          <a:prstGeom prst="roundRect">
            <a:avLst>
              <a:gd name="adj" fmla="val 6000"/>
            </a:avLst>
          </a:prstGeom>
          <a:solidFill>
            <a:srgbClr val="F2F6F8"/>
          </a:solidFill>
          <a:ln w="12700">
            <a:solidFill>
              <a:srgbClr val="E1E9E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36992" y="12344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小時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9555480" y="13075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全程移動時間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936992" y="1645920"/>
            <a:ext cx="3493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含航班 5h05m、汽船 2h40m、陸路約 11.5h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726680" y="2167128"/>
            <a:ext cx="3913632" cy="914400"/>
          </a:xfrm>
          <a:prstGeom prst="roundRect">
            <a:avLst>
              <a:gd name="adj" fmla="val 6000"/>
            </a:avLst>
          </a:prstGeom>
          <a:solidFill>
            <a:srgbClr val="F2F6F8"/>
          </a:solidFill>
          <a:ln w="12700">
            <a:solidFill>
              <a:srgbClr val="E1E9E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36992" y="225856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8h15m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9555480" y="2331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純自由活動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936992" y="2670048"/>
            <a:ext cx="3493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宮島 1h、高松 3h+3h、溫泉 1h15m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726680" y="3191256"/>
            <a:ext cx="3913632" cy="914400"/>
          </a:xfrm>
          <a:prstGeom prst="roundRect">
            <a:avLst>
              <a:gd name="adj" fmla="val 6000"/>
            </a:avLst>
          </a:prstGeom>
          <a:solidFill>
            <a:srgbClr val="F2F6F8"/>
          </a:solidFill>
          <a:ln w="12700">
            <a:solidFill>
              <a:srgbClr val="E1E9E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36992" y="328269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8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785 階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9555480" y="335584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金刀比羅宮御本宮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936992" y="3694176"/>
            <a:ext cx="3493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來回約 2 小時，奧社另加 60–90 分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726680" y="4215384"/>
            <a:ext cx="3913632" cy="914400"/>
          </a:xfrm>
          <a:prstGeom prst="roundRect">
            <a:avLst>
              <a:gd name="adj" fmla="val 6000"/>
            </a:avLst>
          </a:prstGeom>
          <a:solidFill>
            <a:srgbClr val="F2F6F8"/>
          </a:solidFill>
          <a:ln w="12700">
            <a:solidFill>
              <a:srgbClr val="E1E9E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936992" y="430682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4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晚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9555480" y="437997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住宿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936992" y="4718304"/>
            <a:ext cx="3493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廣島 1、今治 1、高松 1、琴平 1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48640" y="54864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A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Day 1、Day 5 含跨國移動與機場作業，實際觀光時間分別約 4 小時與 5 小時。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自由活動時段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863840" y="384048"/>
            <a:ext cx="3776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A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全程約 8 小時 15 分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362956" cy="1874520"/>
          </a:xfrm>
          <a:prstGeom prst="roundRect">
            <a:avLst>
              <a:gd name="adj" fmla="val 3415"/>
            </a:avLst>
          </a:prstGeom>
          <a:solidFill>
            <a:srgbClr val="F2F6F8"/>
          </a:solidFill>
          <a:ln w="12700">
            <a:solidFill>
              <a:srgbClr val="E1E9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545336"/>
            <a:ext cx="35341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6E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1 ‧ 15:55–16:55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494276" y="1527048"/>
            <a:ext cx="1143000" cy="310896"/>
          </a:xfrm>
          <a:prstGeom prst="roundRect">
            <a:avLst>
              <a:gd name="adj" fmla="val 14706"/>
            </a:avLst>
          </a:prstGeom>
          <a:solidFill>
            <a:srgbClr val="1C6E8C"/>
          </a:solidFill>
          <a:ln w="12700">
            <a:solidFill>
              <a:srgbClr val="1C6E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94276" y="152704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60 分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4672" y="1947672"/>
            <a:ext cx="48508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宮島表參道商店街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04672" y="2441448"/>
            <a:ext cx="48508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現烤牡蠣、紅葉饅頭、杓子伴手禮；商店多在 17:00–17:30 打烊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77356" y="1325880"/>
            <a:ext cx="5362956" cy="1874520"/>
          </a:xfrm>
          <a:prstGeom prst="roundRect">
            <a:avLst>
              <a:gd name="adj" fmla="val 3415"/>
            </a:avLst>
          </a:prstGeom>
          <a:solidFill>
            <a:srgbClr val="F2F6F8"/>
          </a:solidFill>
          <a:ln w="12700">
            <a:solidFill>
              <a:srgbClr val="E1E9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3388" y="1545336"/>
            <a:ext cx="35341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83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3 ‧ 14:50–17:50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222992" y="1527048"/>
            <a:ext cx="1143000" cy="310896"/>
          </a:xfrm>
          <a:prstGeom prst="roundRect">
            <a:avLst>
              <a:gd name="adj" fmla="val 14706"/>
            </a:avLst>
          </a:prstGeom>
          <a:solidFill>
            <a:srgbClr val="C08327"/>
          </a:solidFill>
          <a:ln w="12700">
            <a:solidFill>
              <a:srgbClr val="C083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22992" y="152704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180 分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533388" y="1947672"/>
            <a:ext cx="48508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高松丸龜町商店街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533388" y="2441448"/>
            <a:ext cx="48508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全日最長自由時段；八條街連通，晚餐代金 ¥5,000 自理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611880"/>
            <a:ext cx="5362956" cy="1874520"/>
          </a:xfrm>
          <a:prstGeom prst="roundRect">
            <a:avLst>
              <a:gd name="adj" fmla="val 3415"/>
            </a:avLst>
          </a:prstGeom>
          <a:solidFill>
            <a:srgbClr val="F2F6F8"/>
          </a:solidFill>
          <a:ln w="12700">
            <a:solidFill>
              <a:srgbClr val="E1E9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3831336"/>
            <a:ext cx="35341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45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4 ‧ 16:45–18:00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94276" y="3813048"/>
            <a:ext cx="1143000" cy="310896"/>
          </a:xfrm>
          <a:prstGeom prst="roundRect">
            <a:avLst>
              <a:gd name="adj" fmla="val 14706"/>
            </a:avLst>
          </a:prstGeom>
          <a:solidFill>
            <a:srgbClr val="C4452F"/>
          </a:solidFill>
          <a:ln w="12700">
            <a:solidFill>
              <a:srgbClr val="C4452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94276" y="381304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75 分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04672" y="4233672"/>
            <a:ext cx="48508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琴參閣 大浴場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04672" y="4727448"/>
            <a:ext cx="48508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會席晚宴前泡湯；建議單次不超過 15 分鐘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77356" y="3611880"/>
            <a:ext cx="5362956" cy="1874520"/>
          </a:xfrm>
          <a:prstGeom prst="roundRect">
            <a:avLst>
              <a:gd name="adj" fmla="val 3415"/>
            </a:avLst>
          </a:prstGeom>
          <a:solidFill>
            <a:srgbClr val="F2F6F8"/>
          </a:solidFill>
          <a:ln w="12700">
            <a:solidFill>
              <a:srgbClr val="E1E9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3388" y="3831336"/>
            <a:ext cx="35341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4B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5 ‧ 10:55–13:55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222992" y="3813048"/>
            <a:ext cx="1143000" cy="310896"/>
          </a:xfrm>
          <a:prstGeom prst="roundRect">
            <a:avLst>
              <a:gd name="adj" fmla="val 14706"/>
            </a:avLst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22992" y="381304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180 分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533388" y="4233672"/>
            <a:ext cx="48508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高松中央商店街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533388" y="4727448"/>
            <a:ext cx="48508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午餐自理，建議留 30–40 分用餐；其餘可逛街採買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住宿資訊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863840" y="384048"/>
            <a:ext cx="3776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A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晚 ‧ 廣島 / 今治 / 高松 / 琴平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362956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CBD8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517904"/>
            <a:ext cx="914400" cy="310896"/>
          </a:xfrm>
          <a:prstGeom prst="roundRect">
            <a:avLst>
              <a:gd name="adj" fmla="val 14706"/>
            </a:avLst>
          </a:prstGeom>
          <a:solidFill>
            <a:srgbClr val="1C6E8C"/>
          </a:solidFill>
          <a:ln w="12700">
            <a:solidFill>
              <a:srgbClr val="1C6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51790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1 夜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847088" y="15361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A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09/24 (四)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4672" y="1920240"/>
            <a:ext cx="48508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廣島麗嘉皇家酒店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04672" y="2322576"/>
            <a:ext cx="48508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リーガロイヤルホテル広島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2633472"/>
            <a:ext cx="48508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広島県広島市中区基町 6-78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" y="2944368"/>
            <a:ext cx="48508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 +81 82-502-1121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77356" y="1298448"/>
            <a:ext cx="5362956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CBD8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33388" y="1517904"/>
            <a:ext cx="914400" cy="310896"/>
          </a:xfrm>
          <a:prstGeom prst="roundRect">
            <a:avLst>
              <a:gd name="adj" fmla="val 14706"/>
            </a:avLst>
          </a:prstGeom>
          <a:solidFill>
            <a:srgbClr val="2E8B6F"/>
          </a:solidFill>
          <a:ln w="12700">
            <a:solidFill>
              <a:srgbClr val="2E8B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3388" y="151790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2 夜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575804" y="15361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A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09/25 (五)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33388" y="1920240"/>
            <a:ext cx="48508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今治國際飯店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533388" y="2322576"/>
            <a:ext cx="48508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今治国際ホテル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33388" y="2633472"/>
            <a:ext cx="48508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愛媛県今治市旭町 2-3-4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33388" y="2944368"/>
            <a:ext cx="48508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 +81 898-36-1111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831336"/>
            <a:ext cx="5362956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CBD8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4050792"/>
            <a:ext cx="914400" cy="310896"/>
          </a:xfrm>
          <a:prstGeom prst="roundRect">
            <a:avLst>
              <a:gd name="adj" fmla="val 14706"/>
            </a:avLst>
          </a:prstGeom>
          <a:solidFill>
            <a:srgbClr val="C08327"/>
          </a:solidFill>
          <a:ln w="12700">
            <a:solidFill>
              <a:srgbClr val="C083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405079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3 夜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847088" y="4069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A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09/26 (六)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04672" y="4453128"/>
            <a:ext cx="48508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JR Hotel Clement 高松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04672" y="4855464"/>
            <a:ext cx="48508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JRホテルクレメント高松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4672" y="5166360"/>
            <a:ext cx="48508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香川県高松市浜ノ町 1-1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4672" y="5477256"/>
            <a:ext cx="48508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8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 +81 87-811-1111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77356" y="3831336"/>
            <a:ext cx="5362956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CBD8D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33388" y="4050792"/>
            <a:ext cx="914400" cy="310896"/>
          </a:xfrm>
          <a:prstGeom prst="roundRect">
            <a:avLst>
              <a:gd name="adj" fmla="val 14706"/>
            </a:avLst>
          </a:prstGeom>
          <a:solidFill>
            <a:srgbClr val="C4452F"/>
          </a:solidFill>
          <a:ln w="12700">
            <a:solidFill>
              <a:srgbClr val="C4452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33388" y="405079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4 夜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575804" y="4069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A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09/27 (日)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533388" y="4453128"/>
            <a:ext cx="48508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A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琴平溫泉 琴參閣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6533388" y="4855464"/>
            <a:ext cx="48508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ことひら温泉 琴参閣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33388" y="5166360"/>
            <a:ext cx="48508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香川県仲多度郡琴平町 685-11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533388" y="5477256"/>
            <a:ext cx="48508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 +81 877-75-1000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840480"/>
            <a:ext cx="4572000" cy="4572000"/>
          </a:xfrm>
          <a:prstGeom prst="ellipse">
            <a:avLst/>
          </a:prstGeom>
          <a:solidFill>
            <a:srgbClr val="1C6E8C">
              <a:alpha val="18000"/>
            </a:srgbClr>
          </a:solidFill>
          <a:ln w="12700">
            <a:solidFill>
              <a:srgbClr val="1C6E8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行前提醒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C4D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時間推估基準與實用資訊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28216"/>
            <a:ext cx="310896" cy="310896"/>
          </a:xfrm>
          <a:prstGeom prst="ellipse">
            <a:avLst/>
          </a:prstGeom>
          <a:solidFill>
            <a:srgbClr val="C4452F"/>
          </a:solidFill>
          <a:ln w="12700">
            <a:solidFill>
              <a:srgbClr val="C445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28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6916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CE9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本行程時間除航班、集合時間為手冊明載外，其餘為依路線距離之推估值，實際以隨團導遊公告為準。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478024"/>
            <a:ext cx="310896" cy="310896"/>
          </a:xfrm>
          <a:prstGeom prst="ellipse">
            <a:avLst/>
          </a:prstGeom>
          <a:solidFill>
            <a:srgbClr val="C4452F"/>
          </a:solidFill>
          <a:ln w="12700">
            <a:solidFill>
              <a:srgbClr val="C445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478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244144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CE9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日本時間比台灣快 1 小時；Day 2–Day 5 全部使用日本時間。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227832"/>
            <a:ext cx="310896" cy="310896"/>
          </a:xfrm>
          <a:prstGeom prst="ellipse">
            <a:avLst/>
          </a:prstGeom>
          <a:solidFill>
            <a:srgbClr val="C4452F"/>
          </a:solidFill>
          <a:ln w="12700">
            <a:solidFill>
              <a:srgbClr val="C4452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227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3191256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CE9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金刀比羅宮以參拜至御本宮（785 階）來回估算；續登奧社（1368 階）需再增加 60–90 分鐘。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310896" cy="310896"/>
          </a:xfrm>
          <a:prstGeom prst="ellipse">
            <a:avLst/>
          </a:prstGeom>
          <a:solidFill>
            <a:srgbClr val="C4452F"/>
          </a:solidFill>
          <a:ln w="12700">
            <a:solidFill>
              <a:srgbClr val="C445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977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39410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CE9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5 高松機場報到緩衝設 165 分鐘，若想延長自由活動可自此扣減，但建議至少保留 120 分鐘。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727448"/>
            <a:ext cx="310896" cy="310896"/>
          </a:xfrm>
          <a:prstGeom prst="ellipse">
            <a:avLst/>
          </a:prstGeom>
          <a:solidFill>
            <a:srgbClr val="C4452F"/>
          </a:solidFill>
          <a:ln w="12700">
            <a:solidFill>
              <a:srgbClr val="C445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727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469087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CE9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打回台灣：市話 001+886+區碼(去0)+號碼；手機 001+886+手機號碼(去0)。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172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8A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資料來源：旅行社提供之廣島高松 5 日旅遊手冊（2026.09.24–09.28 版）；公開版已移除集合地點與聯絡人資訊。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1441</Words>
  <Application>Microsoft Office PowerPoint</Application>
  <PresentationFormat>寬螢幕</PresentationFormat>
  <Paragraphs>429</Paragraphs>
  <Slides>12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6" baseType="lpstr">
      <vt:lpstr>Microsoft JhengHei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廣島・高松 5 日</dc:title>
  <dc:subject>PptxGenJS Presentation</dc:subject>
  <dc:creator>Alex Yu</dc:creator>
  <cp:lastModifiedBy>Chun-Yen Yu</cp:lastModifiedBy>
  <cp:revision>4</cp:revision>
  <dcterms:created xsi:type="dcterms:W3CDTF">2026-08-23T14:36:41Z</dcterms:created>
  <dcterms:modified xsi:type="dcterms:W3CDTF">2026-09-05T13:53:14Z</dcterms:modified>
</cp:coreProperties>
</file>