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1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AI / LLM 是什麼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AI 與 LLM，到底是什麼？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362A1F"/>
                </a:solidFill>
                <a:latin typeface="Microsoft JhengHei"/>
              </a:rPr>
              <a:t>AI（人工智慧）是一個大範疇：讓電腦做出「看起來像人類判斷」的事情。
LLM（大型語言模型）是現在最常聽到的一種 AI，吃進大量文字訓練出來的「文字接龍高手」，能讀懂問題、生成回答、寫文章、寫程式。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8036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白話講法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可以想成一位讀過非常多書、記憶力很好，但偶爾會記錯細節的助理，問它什麼都願意試著回答。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288036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你已經在用它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ChatGPT、Claude、Gemini 這些「聊天機器人」，背後用的都是 LLM；跟它們對話，就是在跟 LLM 對話。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1-1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2012 年後的發展歷程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2012 年之後，AI 怎麼一步步走到今天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02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1277295" cy="777240"/>
          </a:xfrm>
          <a:prstGeom prst="roundRect">
            <a:avLst>
              <a:gd name="adj" fmla="val 12000"/>
            </a:avLst>
          </a:prstGeom>
          <a:solidFill>
            <a:srgbClr val="F5E4DA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2012 年以前：AI 大多是「照規則寫死」的專家系統，能做的事很有限，還談不上「理解」文字。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27248"/>
            <a:ext cx="11277295" cy="27940"/>
          </a:xfrm>
          <a:prstGeom prst="rect">
            <a:avLst/>
          </a:prstGeom>
          <a:solidFill>
            <a:srgbClr val="DE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11777" y="306679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74320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31012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AlexNet：深度學習在影像辨識上大突破</a:t>
            </a:r>
          </a:p>
        </p:txBody>
      </p:sp>
      <p:sp>
        <p:nvSpPr>
          <p:cNvPr id="11" name="Oval 10"/>
          <p:cNvSpPr/>
          <p:nvPr/>
        </p:nvSpPr>
        <p:spPr>
          <a:xfrm>
            <a:off x="3767236" y="306679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7523" y="274320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7523" y="331012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AlphaGo 打敗世界棋王，AI 開始「會思考」</a:t>
            </a:r>
          </a:p>
        </p:txBody>
      </p:sp>
      <p:sp>
        <p:nvSpPr>
          <p:cNvPr id="14" name="Oval 13"/>
          <p:cNvSpPr/>
          <p:nvPr/>
        </p:nvSpPr>
        <p:spPr>
          <a:xfrm>
            <a:off x="6022695" y="306679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2982" y="274320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2982" y="331012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Transformer 論文發表，日後所有 LLM 的技術基礎</a:t>
            </a:r>
          </a:p>
        </p:txBody>
      </p:sp>
      <p:sp>
        <p:nvSpPr>
          <p:cNvPr id="17" name="Oval 16"/>
          <p:cNvSpPr/>
          <p:nvPr/>
        </p:nvSpPr>
        <p:spPr>
          <a:xfrm>
            <a:off x="8278154" y="306679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441" y="274320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2018–19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441" y="331012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GPT／BERT 等早期語言模型，AI 開始「讀懂」文字</a:t>
            </a:r>
          </a:p>
        </p:txBody>
      </p:sp>
      <p:sp>
        <p:nvSpPr>
          <p:cNvPr id="20" name="Oval 19"/>
          <p:cNvSpPr/>
          <p:nvPr/>
        </p:nvSpPr>
        <p:spPr>
          <a:xfrm>
            <a:off x="10533613" y="306679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3900" y="274320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3900" y="331012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GPT-3：模型大到能寫文章，但只有工程師在用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1-2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ChatGPT 後的發展歷程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ChatGPT 之後，AI 走進一般人的生活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03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50008"/>
            <a:ext cx="11277295" cy="27940"/>
          </a:xfrm>
          <a:prstGeom prst="rect">
            <a:avLst/>
          </a:prstGeom>
          <a:solidFill>
            <a:srgbClr val="DE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1777" y="228955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96596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2022.11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53288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ChatGPT 推出，兩個月用戶破億</a:t>
            </a:r>
          </a:p>
        </p:txBody>
      </p:sp>
      <p:sp>
        <p:nvSpPr>
          <p:cNvPr id="10" name="Oval 9"/>
          <p:cNvSpPr/>
          <p:nvPr/>
        </p:nvSpPr>
        <p:spPr>
          <a:xfrm>
            <a:off x="3767236" y="228955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7523" y="196596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7523" y="253288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Claude、Gemini、Meta LLaMA 相繼推出</a:t>
            </a:r>
          </a:p>
        </p:txBody>
      </p:sp>
      <p:sp>
        <p:nvSpPr>
          <p:cNvPr id="13" name="Oval 12"/>
          <p:cNvSpPr/>
          <p:nvPr/>
        </p:nvSpPr>
        <p:spPr>
          <a:xfrm>
            <a:off x="6022695" y="228955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2982" y="196596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2982" y="253288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GPT-4 加入圖片辨識，AI 開始看得懂照片</a:t>
            </a:r>
          </a:p>
        </p:txBody>
      </p:sp>
      <p:sp>
        <p:nvSpPr>
          <p:cNvPr id="16" name="Oval 15"/>
          <p:cNvSpPr/>
          <p:nvPr/>
        </p:nvSpPr>
        <p:spPr>
          <a:xfrm>
            <a:off x="8278154" y="228955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441" y="196596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441" y="253288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AI 開始會上網查資料、看文件、用工具</a:t>
            </a:r>
          </a:p>
        </p:txBody>
      </p:sp>
      <p:sp>
        <p:nvSpPr>
          <p:cNvPr id="19" name="Oval 18"/>
          <p:cNvSpPr/>
          <p:nvPr/>
        </p:nvSpPr>
        <p:spPr>
          <a:xfrm>
            <a:off x="10533613" y="228955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3900" y="196596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3900" y="253288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AI 開始能自己動手做事，進入「Agentic AI」階段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重點不是記住年份，是感受到這件事「一直在加速」。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現在主流的模型有哪些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現在檯面上，主要有哪些 AI 可以用？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04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1277295" cy="502920"/>
          </a:xfrm>
          <a:prstGeom prst="roundRect">
            <a:avLst>
              <a:gd name="adj" fmla="val 35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Claude（Anthropic）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3895" y="16916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4A32"/>
                </a:solidFill>
                <a:latin typeface="Microsoft JhengHei"/>
              </a:rPr>
              <a:t>claude.ai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13432"/>
            <a:ext cx="11277295" cy="502920"/>
          </a:xfrm>
          <a:prstGeom prst="roundRect">
            <a:avLst>
              <a:gd name="adj" fmla="val 35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ChatGPT（OpenAI）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3895" y="231343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4A32"/>
                </a:solidFill>
                <a:latin typeface="Microsoft JhengHei"/>
              </a:rPr>
              <a:t>chatgpt.com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35224"/>
            <a:ext cx="11277295" cy="502920"/>
          </a:xfrm>
          <a:prstGeom prst="roundRect">
            <a:avLst>
              <a:gd name="adj" fmla="val 35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Gemini（Google）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293522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4A32"/>
                </a:solidFill>
                <a:latin typeface="Microsoft JhengHei"/>
              </a:rPr>
              <a:t>gemini.google.com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57016"/>
            <a:ext cx="11277295" cy="502920"/>
          </a:xfrm>
          <a:prstGeom prst="roundRect">
            <a:avLst>
              <a:gd name="adj" fmla="val 35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5701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Grok（xAI）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3895" y="355701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4A32"/>
                </a:solidFill>
                <a:latin typeface="Microsoft JhengHei"/>
              </a:rPr>
              <a:t>grok.com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78808"/>
            <a:ext cx="11277295" cy="502920"/>
          </a:xfrm>
          <a:prstGeom prst="roundRect">
            <a:avLst>
              <a:gd name="adj" fmla="val 35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788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Meta AI（Meta）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3895" y="41788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4A32"/>
                </a:solidFill>
                <a:latin typeface="Microsoft JhengHei"/>
              </a:rPr>
              <a:t>meta.ai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00600"/>
            <a:ext cx="11277295" cy="502920"/>
          </a:xfrm>
          <a:prstGeom prst="roundRect">
            <a:avLst>
              <a:gd name="adj" fmla="val 35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Copilot（Microsoft）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3895" y="48006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4A32"/>
                </a:solidFill>
                <a:latin typeface="Microsoft JhengHei"/>
              </a:rPr>
              <a:t>copilot.microsoft.com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大多有免費版本可以先試用看看，通常都能直接用 Google／Apple 帳號註冊登入。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2-1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世界主流模型比較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六個主流模型，各自的強項在哪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05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624986" cy="1874519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Cl  Claude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Anthropic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62A1F"/>
                </a:solidFill>
                <a:latin typeface="Microsoft JhengHei"/>
              </a:rPr>
              <a:t>寫作／分析嚴謹，擅長長文件與程式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適合：需要仔細思考的任務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3354" y="1691640"/>
            <a:ext cx="3624986" cy="1874519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Ch  ChatGPT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OpenAI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62A1F"/>
                </a:solidFill>
                <a:latin typeface="Microsoft JhengHei"/>
              </a:rPr>
              <a:t>功能最齊全，用的人最多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適合：日常各種用途、新手首選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9508" y="1691640"/>
            <a:ext cx="3624986" cy="1874519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Ge  Gemini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Google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62A1F"/>
                </a:solidFill>
                <a:latin typeface="Microsoft JhengHei"/>
              </a:rPr>
              <a:t>跟 Gmail／雲端硬碟／地圖整合最深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適合：已經在用 Google 全家桶的人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30751"/>
            <a:ext cx="3624986" cy="1874519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Gr  Grok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xAI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62A1F"/>
                </a:solidFill>
                <a:latin typeface="Microsoft JhengHei"/>
              </a:rPr>
              <a:t>直接整合在 X（Twitter）裡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適合：想看即時話題討論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3354" y="3730751"/>
            <a:ext cx="3624986" cy="1874519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Me  Meta AI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Meta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62A1F"/>
                </a:solidFill>
                <a:latin typeface="Microsoft JhengHei"/>
              </a:rPr>
              <a:t>內建在 IG／WhatsApp／Facebook 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適合：本來就常用這些 App 的人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9508" y="3730751"/>
            <a:ext cx="3624986" cy="1874519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Co  Copilot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Microsoft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62A1F"/>
                </a:solidFill>
                <a:latin typeface="Microsoft JhengHei"/>
              </a:rPr>
              <a:t>內建在 Windows／Office 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6B5B4C"/>
                </a:solidFill>
                <a:latin typeface="Microsoft JhengHei"/>
              </a:rPr>
              <a:t>適合：常用 Word／Excel／Outlook 的人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2-2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辨識中國模型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這幾個是中國模型，台灣使用建議避開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06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624986" cy="105156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Kimi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Moonshot AI（月之暗面）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3354" y="1691640"/>
            <a:ext cx="3624986" cy="105156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DeepSeek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深度求索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9508" y="1691640"/>
            <a:ext cx="3624986" cy="105156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智譜清言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智譜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07792"/>
            <a:ext cx="3624986" cy="105156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Qwen 通義千問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阿里巴巴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3354" y="2907792"/>
            <a:ext cx="3624986" cy="105156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文心一言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百度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9508" y="2907792"/>
            <a:ext cx="3624986" cy="105156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豆包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字節跳動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61104"/>
            <a:ext cx="11277295" cy="1005840"/>
          </a:xfrm>
          <a:prstGeom prst="roundRect">
            <a:avLst>
              <a:gd name="adj" fmla="val 12000"/>
            </a:avLst>
          </a:prstGeom>
          <a:solidFill>
            <a:srgbClr val="F5E0D3"/>
          </a:solidFill>
          <a:ln w="12700">
            <a:solidFill>
              <a:srgbClr val="B85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資料可能儲存於中國境內、需配合當地法規調閱，兩岸等敏感議題的回答也會被引導。日常使用，建議以上一頁的國際主流模型為主。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2-3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怎麼判斷 AI 現在多聰明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怎麼知道哪個 AI 現在比較「聰明」？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362A1F"/>
                </a:solidFill>
                <a:latin typeface="Microsoft JhengHei"/>
              </a:rPr>
              <a:t>AI 進步很快，「哪家最強」每隔幾個月就會洗牌，不用死背哪個永遠最好。有幾個第三方網站會定期用同樣的題目考所有 AI，排名給大家參考。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524347" cy="160020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AI Stupid Meter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 i="0">
                <a:solidFill>
                  <a:srgbClr val="8B4A32"/>
                </a:solidFill>
                <a:latin typeface="Microsoft JhengHei"/>
              </a:rPr>
              <a:t>aistupidlevel.info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持續監測各家模型在真實任務中「進步／退步」的狀況。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2743200"/>
            <a:ext cx="5524347" cy="160020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Agent Leaderboard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 i="0">
                <a:solidFill>
                  <a:srgbClr val="8B4A32"/>
                </a:solidFill>
                <a:latin typeface="Microsoft JhengHei"/>
              </a:rPr>
              <a:t>arena.ai/leaderboard/agent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讓真人盲測投票，比較不同 AI 的回答品質。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白話：想知道「現在誰比較厲害」，查這類排行榜，比道聽塗說準。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2-4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LLM 的歷史里程碑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幾個被寫進歷史的關鍵時刻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08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24328"/>
            <a:ext cx="11277295" cy="27940"/>
          </a:xfrm>
          <a:prstGeom prst="rect">
            <a:avLst/>
          </a:prstGeom>
          <a:solidFill>
            <a:srgbClr val="DE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1777" y="256387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224028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80720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AlphaGo 打敗李世乭，大眾首次感受到 AI 威力</a:t>
            </a:r>
          </a:p>
        </p:txBody>
      </p:sp>
      <p:sp>
        <p:nvSpPr>
          <p:cNvPr id="10" name="Oval 9"/>
          <p:cNvSpPr/>
          <p:nvPr/>
        </p:nvSpPr>
        <p:spPr>
          <a:xfrm>
            <a:off x="3767236" y="256387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7523" y="224028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7523" y="280720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ChatGPT 上線，史上成長最快的應用之一</a:t>
            </a:r>
          </a:p>
        </p:txBody>
      </p:sp>
      <p:sp>
        <p:nvSpPr>
          <p:cNvPr id="13" name="Oval 12"/>
          <p:cNvSpPr/>
          <p:nvPr/>
        </p:nvSpPr>
        <p:spPr>
          <a:xfrm>
            <a:off x="6022695" y="256387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2982" y="224028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2982" y="280720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歐盟等國家開始討論 AI 監管</a:t>
            </a:r>
          </a:p>
        </p:txBody>
      </p:sp>
      <p:sp>
        <p:nvSpPr>
          <p:cNvPr id="16" name="Oval 15"/>
          <p:cNvSpPr/>
          <p:nvPr/>
        </p:nvSpPr>
        <p:spPr>
          <a:xfrm>
            <a:off x="8278154" y="256387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441" y="224028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441" y="280720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AlphaFold 團隊獲諾貝爾化學獎</a:t>
            </a:r>
          </a:p>
        </p:txBody>
      </p:sp>
      <p:sp>
        <p:nvSpPr>
          <p:cNvPr id="19" name="Oval 18"/>
          <p:cNvSpPr/>
          <p:nvPr/>
        </p:nvSpPr>
        <p:spPr>
          <a:xfrm>
            <a:off x="10533613" y="256387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3900" y="224028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3900" y="2807208"/>
            <a:ext cx="214573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AI 開始能自主完成數小時的複雜任務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2-5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LLM 的快速迭代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同一個牌子，也一直在飛快進化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09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ChatGPT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32888"/>
            <a:ext cx="11277295" cy="27940"/>
          </a:xfrm>
          <a:prstGeom prst="rect">
            <a:avLst/>
          </a:prstGeom>
          <a:solidFill>
            <a:srgbClr val="DE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11777" y="247243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14884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715768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GPT-3.5</a:t>
            </a:r>
          </a:p>
        </p:txBody>
      </p:sp>
      <p:sp>
        <p:nvSpPr>
          <p:cNvPr id="11" name="Oval 10"/>
          <p:cNvSpPr/>
          <p:nvPr/>
        </p:nvSpPr>
        <p:spPr>
          <a:xfrm>
            <a:off x="3767236" y="247243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7523" y="214884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7523" y="2715768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GPT-4</a:t>
            </a:r>
          </a:p>
        </p:txBody>
      </p:sp>
      <p:sp>
        <p:nvSpPr>
          <p:cNvPr id="14" name="Oval 13"/>
          <p:cNvSpPr/>
          <p:nvPr/>
        </p:nvSpPr>
        <p:spPr>
          <a:xfrm>
            <a:off x="6022695" y="247243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2982" y="214884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2982" y="2715768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GPT-4o</a:t>
            </a:r>
          </a:p>
        </p:txBody>
      </p:sp>
      <p:sp>
        <p:nvSpPr>
          <p:cNvPr id="17" name="Oval 16"/>
          <p:cNvSpPr/>
          <p:nvPr/>
        </p:nvSpPr>
        <p:spPr>
          <a:xfrm>
            <a:off x="8278154" y="247243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441" y="214884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441" y="2715768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o1 推理模型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10533613" y="2472436"/>
            <a:ext cx="146304" cy="14630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3900" y="2148840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3900" y="2715768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GPT-5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66159"/>
            <a:ext cx="822960" cy="292608"/>
          </a:xfrm>
          <a:prstGeom prst="roundRect">
            <a:avLst>
              <a:gd name="adj" fmla="val 30000"/>
            </a:avLst>
          </a:prstGeom>
          <a:solidFill>
            <a:srgbClr val="5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Claude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07407"/>
            <a:ext cx="11277295" cy="27940"/>
          </a:xfrm>
          <a:prstGeom prst="rect">
            <a:avLst/>
          </a:prstGeom>
          <a:solidFill>
            <a:srgbClr val="DE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11777" y="4346955"/>
            <a:ext cx="146304" cy="146304"/>
          </a:xfrm>
          <a:prstGeom prst="ellipse">
            <a:avLst/>
          </a:prstGeom>
          <a:solidFill>
            <a:srgbClr val="5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023359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F5A5E"/>
                </a:solidFill>
                <a:latin typeface="Microsoft JhengHei"/>
              </a:rP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590287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Claude 1</a:t>
            </a:r>
          </a:p>
        </p:txBody>
      </p:sp>
      <p:sp>
        <p:nvSpPr>
          <p:cNvPr id="28" name="Oval 27"/>
          <p:cNvSpPr/>
          <p:nvPr/>
        </p:nvSpPr>
        <p:spPr>
          <a:xfrm>
            <a:off x="3767236" y="4346955"/>
            <a:ext cx="146304" cy="146304"/>
          </a:xfrm>
          <a:prstGeom prst="ellipse">
            <a:avLst/>
          </a:prstGeom>
          <a:solidFill>
            <a:srgbClr val="5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7523" y="4023359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F5A5E"/>
                </a:solidFill>
                <a:latin typeface="Microsoft JhengHei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7523" y="4590287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Claude 2</a:t>
            </a:r>
          </a:p>
        </p:txBody>
      </p:sp>
      <p:sp>
        <p:nvSpPr>
          <p:cNvPr id="31" name="Oval 30"/>
          <p:cNvSpPr/>
          <p:nvPr/>
        </p:nvSpPr>
        <p:spPr>
          <a:xfrm>
            <a:off x="6022695" y="4346955"/>
            <a:ext cx="146304" cy="146304"/>
          </a:xfrm>
          <a:prstGeom prst="ellipse">
            <a:avLst/>
          </a:prstGeom>
          <a:solidFill>
            <a:srgbClr val="5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2982" y="4023359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F5A5E"/>
                </a:solidFill>
                <a:latin typeface="Microsoft JhengHei"/>
              </a:rP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2982" y="4590287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Claude 3 系列</a:t>
            </a:r>
          </a:p>
        </p:txBody>
      </p:sp>
      <p:sp>
        <p:nvSpPr>
          <p:cNvPr id="34" name="Oval 33"/>
          <p:cNvSpPr/>
          <p:nvPr/>
        </p:nvSpPr>
        <p:spPr>
          <a:xfrm>
            <a:off x="8278154" y="4346955"/>
            <a:ext cx="146304" cy="146304"/>
          </a:xfrm>
          <a:prstGeom prst="ellipse">
            <a:avLst/>
          </a:prstGeom>
          <a:solidFill>
            <a:srgbClr val="5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8441" y="4023359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F5A5E"/>
                </a:solidFill>
                <a:latin typeface="Microsoft JhengHei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441" y="4590287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3.5 Sonnet</a:t>
            </a:r>
          </a:p>
        </p:txBody>
      </p:sp>
      <p:sp>
        <p:nvSpPr>
          <p:cNvPr id="37" name="Oval 36"/>
          <p:cNvSpPr/>
          <p:nvPr/>
        </p:nvSpPr>
        <p:spPr>
          <a:xfrm>
            <a:off x="10533613" y="4346955"/>
            <a:ext cx="146304" cy="146304"/>
          </a:xfrm>
          <a:prstGeom prst="ellipse">
            <a:avLst/>
          </a:prstGeom>
          <a:solidFill>
            <a:srgbClr val="5A9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33900" y="4023359"/>
            <a:ext cx="21457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2F5A5E"/>
                </a:solidFill>
                <a:latin typeface="Microsoft JhengHe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3900" y="4590287"/>
            <a:ext cx="21457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B5B4C"/>
                </a:solidFill>
                <a:latin typeface="Microsoft JhengHei"/>
              </a:rPr>
              <a:t>Claude 4 系列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40678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B5B4C"/>
                </a:solidFill>
                <a:latin typeface="Microsoft JhengHei"/>
              </a:rPr>
              <a:t>版本號不用背，重點是現在用的版本半年後可能就換代。不用怕學了會過時，因為 AI 本身也一直在變。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3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怎麼真的開始用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說了這麼多，到底怎麼打開來用？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10 / 26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64208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找到它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手機到 App Store／Google Play，或電腦開瀏覽器，搜尋想用的 AI 名稱（例如 Claude、ChatGPT）。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用既有帳號登入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大部分都能直接用「Google 帳號」或「Apple 帳號」登入，不用另外設一個新密碼。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666744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39312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不會打字也沒關係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大部分 App 都有「麥克風」圖示，按下去用「說的」就能問問題。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65429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26864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先用免費版就好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不用急著付費升級，日常提問免費版通常就夠用。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用對話獲取知識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想知道什麼，直接用白話文問就對了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362A1F"/>
                </a:solidFill>
                <a:latin typeface="Microsoft JhengHei"/>
              </a:rPr>
              <a:t>不用學任何指令或程式語法，把 AI 想成一個「什麼都聊得下去、有問必答」的朋友就好。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606698" cy="1463040"/>
          </a:xfrm>
          <a:prstGeom prst="roundRect">
            <a:avLst>
              <a:gd name="adj" fmla="val 14000"/>
            </a:avLst>
          </a:prstGeom>
          <a:solidFill>
            <a:srgbClr val="E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362A1F"/>
                </a:solidFill>
                <a:latin typeface="Microsoft JhengHei"/>
              </a:rPr>
              <a:t>「我血壓有點高，飲食要注意什麼？」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498" y="2560320"/>
            <a:ext cx="3606698" cy="1463040"/>
          </a:xfrm>
          <a:prstGeom prst="roundRect">
            <a:avLst>
              <a:gd name="adj" fmla="val 14000"/>
            </a:avLst>
          </a:prstGeom>
          <a:solidFill>
            <a:srgbClr val="E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362A1F"/>
                </a:solidFill>
                <a:latin typeface="Microsoft JhengHei"/>
              </a:rPr>
              <a:t>「幫我看看這張水電費帳單是不是算錯了」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2560320"/>
            <a:ext cx="3606698" cy="1463040"/>
          </a:xfrm>
          <a:prstGeom prst="roundRect">
            <a:avLst>
              <a:gd name="adj" fmla="val 14000"/>
            </a:avLst>
          </a:prstGeom>
          <a:solidFill>
            <a:srgbClr val="ED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362A1F"/>
                </a:solidFill>
                <a:latin typeface="Microsoft JhengHei"/>
              </a:rPr>
              <a:t>「這個 LINE 訊息看起來像詐騙嗎？」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4-1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他是怎麼做到的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AI 回答問題，靠的是這兩招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12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用既有知識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訓練時讀過的海量資料，直接根據「記憶」回答，像博學的朋友憑印象回答你。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去網路搜尋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遇到需要「最新消息」的問題（天氣、新聞、比價），AI 會即時上網查，再整理給你。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提醒：時效性問題可以主動請它「上網查一下最新的」，答案會更準。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4-2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AI 的記憶性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AI 會「記得」你，這件事有好有壞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362A1F"/>
                </a:solidFill>
                <a:latin typeface="Microsoft JhengHei"/>
              </a:rPr>
              <a:t>現在很多 AI 都有記憶功能，聊過的內容、提過的偏好，之後對話會自動記得。比如提過自己有糖尿病，之後問飲食建議就會自動考慮到。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好處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不用每次都重講一次背景，越用越「懂你」。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283464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要注意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記憶內容通常存在雲端帳號裡，不要把身分證字號、密碼這類敏感資料當成「要它記住」的內容講出來。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4-3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AI 的侷限性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AI 也有它的侷限，要抱著「參考」的心態用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14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B85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7A3018"/>
                </a:solidFill>
                <a:latin typeface="Microsoft JhengHei"/>
              </a:rPr>
              <a:t>幻覺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有時會很有自信地講出「聽起來很對，其實是錯的」內容，尤其是細節數字、人名、法條。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使用者偏好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會慢慢學到你講話、思考的邏輯，之後傾向順著原本的想法回答，不一定是在糾正你。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上下文限制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一次對話聊太久、貼太多資料，AI 可能會「忘記」前面內容，開新對話反而更清楚。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一句話：AI 講的話，重要的事情還是要自己查證一次。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4-4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背後的運行邏輯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17623" y="347472"/>
            <a:ext cx="659130" cy="292608"/>
          </a:xfrm>
          <a:prstGeom prst="roundRect">
            <a:avLst>
              <a:gd name="adj" fmla="val 50000"/>
            </a:avLst>
          </a:prstGeom>
          <a:solidFill>
            <a:srgbClr val="F5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A3018"/>
                </a:solidFill>
                <a:latin typeface="Microsoft JhengHei"/>
              </a:rPr>
              <a:t>進階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AI 為什麼會這樣回答？背後兩個進階概念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524347" cy="210312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AI 對齊 Alignment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公司會刻意訓練 AI，讓答案「符合人類期待的價值觀」，不教你做壞事、講話有禮貌、承認自己不知道的事。可以想成 AI 被「教過規矩」，不是想到什麼就講什麼。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91640"/>
            <a:ext cx="5524347" cy="210312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AI Harness Engineering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除了模型本身，產品還會加一層「操作規範」，比如先查資料再回答、不確定要說清楚、按格式輸出，這層設計決定同一個模型在不同 App 裡「表現」差多少。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一句話：同樣一顆「大腦」，裝在不同的「殼」裡，個性和謹慎程度會不一樣。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4-5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問話方式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問問題的兩種方式，適合的場合不一樣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16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524347" cy="228600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開放式提問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「幫我想幾個週末台北室內景點」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適合腦力激盪、還沒想清楚要什麼的時候。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524347" cy="228600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敘述式＋有邊界規則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「想 3 個台北室內景點，帶 70 歲長輩，輪椅可進出、不用爬樓梯」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給越多具體條件，答案越貼近需求。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建議：先開放式問一輪，看到喜歡的方向後，再用敘述式把條件講清楚往下追問。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4-6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建議的問法規範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想讓 AI 回答更準，可以照這個順序講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17 / 26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64208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背景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你是誰、要做什麼（例如：我要送禮給岳母，她喜歡養生）。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限制條件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預算、時間、地點、身體狀況等。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666744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39312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呈現方式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要列點、要簡短、要不要附連結。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65429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26864"/>
            <a:ext cx="1059149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直接改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不滿意就講哪裡不對，不用重問一次，AI 會接著改。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4-7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設定規則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77568" y="347472"/>
            <a:ext cx="659130" cy="292608"/>
          </a:xfrm>
          <a:prstGeom prst="roundRect">
            <a:avLst>
              <a:gd name="adj" fmla="val 50000"/>
            </a:avLst>
          </a:prstGeom>
          <a:solidFill>
            <a:srgbClr val="F5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A3018"/>
                </a:solidFill>
                <a:latin typeface="Microsoft JhengHei"/>
              </a:rPr>
              <a:t>進階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更進階：教 AI「以後都要這樣做」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524347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RULE 規則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一次設定、之後每次都遵守的習慣，例如「回答都用繁體中文」。消費版 App 對應「自訂指示 Custom Instructions」。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91640"/>
            <a:ext cx="5524347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SKILL 技能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把「處理某件事的固定流程」教給 AI，之後提到關鍵字就照這套流程做。消費版 App 類似「自訂 GPT／Gemini Gem」。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一句話：與其每次重講一次習慣，不如「設定一次，之後都記得」。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5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用 AI 製作 Office 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AI 也能直接幫你生出一份 Word／Excel／PPT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19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900" b="0" i="0">
                <a:solidFill>
                  <a:srgbClr val="362A1F"/>
                </a:solidFill>
                <a:latin typeface="Microsoft JhengHei"/>
              </a:rPr>
              <a:t>現在的 Claude、Gemini 等，都可以在對話中直接說「幫我做一份 XX 的 Excel／Word／簡報」，它就會生成一個可以下載、打開就能用的檔案，不用自己一格一格 key。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5-1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實作：生成 Office 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實測：請 AI 做一份「保健食品服用指南」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362A1F"/>
                </a:solidFill>
                <a:latin typeface="Microsoft JhengHei"/>
              </a:rPr>
              <a:t>對 Claude／Gemini 說：「幫我做一份 Excel，列出常見保健食品該怎麼吃、用量、頻率、注意事項」，AI 就直接生成表格化檔案。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14600"/>
          <a:ext cx="11277293" cy="2651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637"/>
                <a:gridCol w="2301488"/>
                <a:gridCol w="2761786"/>
                <a:gridCol w="3682382"/>
              </a:tblGrid>
              <a:tr h="477316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362A1F"/>
                          </a:solidFill>
                          <a:latin typeface="Microsoft JhengHei"/>
                        </a:rPr>
                        <a:t>品項</a:t>
                      </a:r>
                    </a:p>
                  </a:txBody>
                  <a:tcPr anchor="ctr" marL="109728" marR="109728">
                    <a:solidFill>
                      <a:srgbClr val="ED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362A1F"/>
                          </a:solidFill>
                          <a:latin typeface="Microsoft JhengHei"/>
                        </a:rPr>
                        <a:t>建議劑量</a:t>
                      </a:r>
                    </a:p>
                  </a:txBody>
                  <a:tcPr anchor="ctr" marL="109728" marR="109728">
                    <a:solidFill>
                      <a:srgbClr val="ED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362A1F"/>
                          </a:solidFill>
                          <a:latin typeface="Microsoft JhengHei"/>
                        </a:rPr>
                        <a:t>服用時機</a:t>
                      </a:r>
                    </a:p>
                  </a:txBody>
                  <a:tcPr anchor="ctr" marL="109728" marR="109728">
                    <a:solidFill>
                      <a:srgbClr val="EDE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362A1F"/>
                          </a:solidFill>
                          <a:latin typeface="Microsoft JhengHei"/>
                        </a:rPr>
                        <a:t>注意事項</a:t>
                      </a:r>
                    </a:p>
                  </a:txBody>
                  <a:tcPr anchor="ctr" marL="109728" marR="109728">
                    <a:solidFill>
                      <a:srgbClr val="EDE3D6"/>
                    </a:solidFill>
                  </a:tcPr>
                </a:tc>
              </a:tr>
              <a:tr h="72481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魚油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1000mg／日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飯後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服用抗凝血藥物者先詢問醫師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</a:tr>
              <a:tr h="72481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維他命 B 群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1 錠／日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早餐後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避免睡前服用，可能影響睡眠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</a:tr>
              <a:tr h="724814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益生菌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依產品標示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飯前空腹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6B5B4C"/>
                          </a:solidFill>
                          <a:latin typeface="Microsoft JhengHei"/>
                        </a:rPr>
                        <a:t>與抗生素間隔 2 小時以上</a:t>
                      </a:r>
                    </a:p>
                  </a:txBody>
                  <a:tcPr anchor="ctr" marL="109728" marR="109728">
                    <a:solidFill>
                      <a:srgbClr val="FDF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5-2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Gemini Notebook 介紹一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Gemini 的筆記本功能：整理成專屬知識庫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21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搜尋網頁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貼網址、上傳 PDF／照片／錄音，通通丟進同一個筆記本。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建立知識庫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之後問問題，AI 只根據「這個筆記本裡的資料」回答，答案更準。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對話找資料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把家人的病歷、保單、合約丟進去，之後要查什麼直接問。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5-3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Gemini Notebook 介紹二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貼一個 YouTube 連結，AI 幫你把影片變成文字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22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6807" y="169164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YouTube 連結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貼進筆記本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647" y="1691640"/>
            <a:ext cx="914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800" b="1" i="0">
                <a:solidFill>
                  <a:srgbClr val="6B5B4C"/>
                </a:solidFill>
                <a:latin typeface="Microsoft Jheng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169164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逐字稿／摘要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自動生成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適合：看健康講座影片但不想全程看完，先讓 AI 整理重點。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5-4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Gemini Notebook 介紹三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筆記本裡的資料，一鍵變成簡報或 Podcast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23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簡報大綱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選好資料來源後，可以請它直接生出一份簡報大綱。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524347" cy="173736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Audio Overview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做出像兩個主持人在討論你上傳資料的 Podcast，用「聽的」複習資料。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5-5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實作：修改既有檔案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已經有現成的檔案？也可以請 AI 直接改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24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524347" cy="155448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Word 範例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「幫我把這份報告的第三段改得更簡短」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524347" cy="155448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Excel 範例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「幫我把這個 Excel 加一欄總計」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B5B4C"/>
                </a:solidFill>
                <a:latin typeface="Microsoft JhengHei"/>
              </a:rPr>
              <a:t>把既有的檔案直接上傳給 Claude 或 Gemini，AI 會直接改好，輸出一份新檔案下載，不用自己找哪裡要改。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6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多用 AI，但不要「全信」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25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①  不要全部相信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多用 AI，但有疑問的地方，還是要自己查證。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②  跟用 Google 一樣小心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AI 回答的內容一樣可能是錯的，或來自被誤導的資訊來源。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91640"/>
            <a:ext cx="3606698" cy="192024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 w="12700">
            <a:solidFill>
              <a:srgbClr val="DE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 bIns="128016" wrap="square"/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362A1F"/>
                </a:solidFill>
                <a:latin typeface="Microsoft JhengHei"/>
              </a:rPr>
              <a:t>③  AI 會愈來愈整合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以後 AI 會愈來愈深地整合進手機、電腦、家電，現在開始熟悉，是為了以後更好上手。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B4A32"/>
                </a:solidFill>
                <a:latin typeface="Microsoft JhengHei"/>
              </a:rPr>
              <a:t>6-1</a:t>
            </a:r>
            <a:r>
              <a:rPr sz="1100" b="1" i="0">
                <a:solidFill>
                  <a:srgbClr val="8B4A32"/>
                </a:solidFill>
                <a:latin typeface="Microsoft JhengHei"/>
              </a:rPr>
              <a:t>   隱私與詐騙意識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362A1F"/>
                </a:solidFill>
                <a:latin typeface="Microsoft JhengHei"/>
              </a:rPr>
              <a:t>特別提醒：這個年紀，正是詐騙鎖定的對象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6B5B4C"/>
                </a:solidFill>
                <a:latin typeface="Microsoft JhengHei"/>
              </a:rPr>
              <a:t>初入 AI/LLM 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3550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5B4C"/>
                </a:solidFill>
                <a:latin typeface="Microsoft JhengHei"/>
              </a:rPr>
              <a:t>26 / 26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B8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64208"/>
            <a:ext cx="105914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敏感資料不要貼給 AI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身分證字號、銀行帳號、提款密碼、健保卡號，都不要貼進任何 AI 聊天視窗。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32888"/>
            <a:ext cx="457200" cy="457200"/>
          </a:xfrm>
          <a:prstGeom prst="ellipse">
            <a:avLst/>
          </a:prstGeom>
          <a:solidFill>
            <a:srgbClr val="B8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05456"/>
            <a:ext cx="105914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深偽內容已經以假亂真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收到「家人急需用錢」的語音或影片，AI 已經能做出逼真的偽造，先用其他管道求證再行動。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374136"/>
            <a:ext cx="457200" cy="457200"/>
          </a:xfrm>
          <a:prstGeom prst="ellipse">
            <a:avLst/>
          </a:prstGeom>
          <a:solidFill>
            <a:srgbClr val="B8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5914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 i="0">
                <a:solidFill>
                  <a:srgbClr val="362A1F"/>
                </a:solidFill>
                <a:latin typeface="Microsoft JhengHei"/>
              </a:rPr>
              <a:t>拿不準時，直接問 AI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5B4C"/>
                </a:solidFill>
                <a:latin typeface="Microsoft JhengHei"/>
              </a:rPr>
              <a:t>陌生連結、要求先付款解鎖的訊息，可以貼給 AI 問「這是不是詐騙？」，通常能抓出常見話術。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61104"/>
            <a:ext cx="11277295" cy="640080"/>
          </a:xfrm>
          <a:prstGeom prst="roundRect">
            <a:avLst>
              <a:gd name="adj" fmla="val 12000"/>
            </a:avLst>
          </a:prstGeom>
          <a:solidFill>
            <a:srgbClr val="F5E0D3"/>
          </a:solidFill>
          <a:ln w="12700">
            <a:solidFill>
              <a:srgbClr val="B85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362A1F"/>
                </a:solidFill>
                <a:latin typeface="Microsoft JhengHei"/>
              </a:rPr>
              <a:t>一句話：AI 是很好的「防詐諮詢對象」，但別讓自己的資料變成詐騙的「素材來源」。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