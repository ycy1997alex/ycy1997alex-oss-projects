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本簡報整合旅遊手冊（Word）與行程時間表（Excel）內容，供出發前說明使用。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3F6FB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3840480" cy="3840480"/>
          </a:xfrm>
          <a:prstGeom prst="ellipse">
            <a:avLst/>
          </a:prstGeom>
          <a:solidFill>
            <a:srgbClr val="7C5FA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A8C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 前 說 明 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東京近郊自駕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賞花・瀑布・世界遺產　8 天 7 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2011680" cy="0"/>
          </a:xfrm>
          <a:prstGeom prst="line">
            <a:avLst/>
          </a:prstGeom>
          <a:noFill/>
          <a:ln w="31750">
            <a:solidFill>
              <a:srgbClr val="D99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/ 04 / 18 (六) ─ 04 / 25 (六)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9FB3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茨城　栃木　群馬　千葉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4ED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 7 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04/18 ─ 04/25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02152" y="16002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FE9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1783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02152" y="2578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晚住宿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2152" y="29077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總計 NT$ 36,819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64224" y="16002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4ED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783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64224" y="2578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個縣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4224" y="29077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茨城・栃木・群馬・千葉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26296" y="16002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FE9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6296" y="1783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≈¥11,400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26296" y="2578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門票／人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26296" y="29077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不含停車與餐食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路線走向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1E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51960"/>
            <a:ext cx="16916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成田機場 取車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40864" y="425196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23744" y="4251960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3F6FB5"/>
          </a:solidFill>
          <a:ln/>
        </p:spPr>
      </p:sp>
      <p:sp>
        <p:nvSpPr>
          <p:cNvPr id="25" name="Text 23"/>
          <p:cNvSpPr/>
          <p:nvPr/>
        </p:nvSpPr>
        <p:spPr>
          <a:xfrm>
            <a:off x="2523744" y="4251960"/>
            <a:ext cx="16916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茨城 日立・大洗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24528" y="425196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07408" y="4251960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3F6FB5"/>
          </a:solidFill>
          <a:ln/>
        </p:spPr>
      </p:sp>
      <p:sp>
        <p:nvSpPr>
          <p:cNvPr id="28" name="Text 26"/>
          <p:cNvSpPr/>
          <p:nvPr/>
        </p:nvSpPr>
        <p:spPr>
          <a:xfrm>
            <a:off x="4407408" y="4251960"/>
            <a:ext cx="16916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水戶・笠間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08192" y="425196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91072" y="4251960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3F6FB5"/>
          </a:solidFill>
          <a:ln/>
        </p:spPr>
      </p:sp>
      <p:sp>
        <p:nvSpPr>
          <p:cNvPr id="31" name="Text 29"/>
          <p:cNvSpPr/>
          <p:nvPr/>
        </p:nvSpPr>
        <p:spPr>
          <a:xfrm>
            <a:off x="6291072" y="4251960"/>
            <a:ext cx="16916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日光・奧日光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91856" y="425196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74736" y="4251960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3F6FB5"/>
          </a:solidFill>
          <a:ln/>
        </p:spPr>
      </p:sp>
      <p:sp>
        <p:nvSpPr>
          <p:cNvPr id="34" name="Text 32"/>
          <p:cNvSpPr/>
          <p:nvPr/>
        </p:nvSpPr>
        <p:spPr>
          <a:xfrm>
            <a:off x="8174736" y="4251960"/>
            <a:ext cx="16916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足利・館林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75520" y="425196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0" y="4251960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1E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0" y="4251960"/>
            <a:ext cx="16916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成田 還車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全程自駕（TOYOTA SIENTA）；成田空港店取車 → 成田駅前店還車，共 7 天。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86384" cy="786384"/>
          </a:xfrm>
          <a:prstGeom prst="ellipse">
            <a:avLst/>
          </a:prstGeom>
          <a:solidFill>
            <a:srgbClr val="3F6FB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0233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2026/04/18 (六)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676656"/>
            <a:ext cx="9875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出發．成田取車 → 茨城日立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06:30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481328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481328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桃園機場 1 航廈報到（需現場劃機位）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52759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2759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08:30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2152759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152759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JX800 起飛　12:55 抵達成田 2 航廈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824190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24190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14:45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83080" y="2824190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824190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TOYOTA 成田空港店取車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49562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9562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15:45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83080" y="349562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349562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牛久大佛（僅外觀庭園）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6705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705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16:20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83080" y="416705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416705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霞浦綜合公園　風車與鬱金香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838482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38482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18:00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83080" y="4838482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4838482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Sea Birds Café 看夕陽（日落 18:14）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509913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509913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20:30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83080" y="5509913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5509913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平和通り 賞夜櫻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6199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Hotel Hitachi Hills（日立市）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09360" y="61996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飛機餐／機場輕食／中華拉麵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86384" cy="786384"/>
          </a:xfrm>
          <a:prstGeom prst="ellipse">
            <a:avLst/>
          </a:prstGeom>
          <a:solidFill>
            <a:srgbClr val="7C5FA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0233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2026/04/19 (日)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676656"/>
            <a:ext cx="9875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日立日出．奧久慈瀑布巡禮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04:45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481328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481328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日立車站看日出（04:59．整面玻璃景觀）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52759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2759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07:10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2152759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152759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日立神峰公園　葉櫻與展望台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824190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24190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08:20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83080" y="2824190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824190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御岩神社　最強能量場．三本杉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49562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9562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09:50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83080" y="349562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349562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龍神大吊橋　鯉魚旗祭（通行券 ¥320）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6705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705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12:00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83080" y="416705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416705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袋田瀑布（¥300）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838482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38482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83080" y="4838482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4838482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静峰故鄉公園　八重櫻與夜間點燈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509913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509913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19:45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83080" y="5509913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5509913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Matsunobu 晚餐（招牌炸豬排）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6199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とびた荘（大洗．溫泉）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09360" y="61996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飯店自助餐／蕎麥麵／鰻魚飯・炸豬排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86384" cy="786384"/>
          </a:xfrm>
          <a:prstGeom prst="ellipse">
            <a:avLst/>
          </a:prstGeom>
          <a:solidFill>
            <a:srgbClr val="3F6FB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0233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2026/04/20 (一)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676656"/>
            <a:ext cx="9875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粉蝶花．水戶名園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481328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481328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國營常陸海濱公園（09:30 開園，提前到）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52759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2759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09:30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2152759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152759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見晴之丘　粉蝶花（¥450＋¥350）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824190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24190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10:30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83080" y="2824190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824190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蛋之森林鬱金香．大草坪．沙丘海濱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49562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9562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14:55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83080" y="349562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349562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偕樂園好文亭（3F 展望，17:00 關）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6705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705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15:35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83080" y="416705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416705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偕樂園主園　霧島杜鵑與竹林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838482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38482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16:50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83080" y="4838482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4838482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千波湖畔散步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509913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509913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18:30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83080" y="5509913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5509913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山翠　鮟鱇魚火鍋（已預約）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6199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とびた荘（連住）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09360" y="61996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超商早餐／園內咖啡廳／鮟鱇魚火鍋（已訂位）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86384" cy="786384"/>
          </a:xfrm>
          <a:prstGeom prst="ellipse">
            <a:avLst/>
          </a:prstGeom>
          <a:solidFill>
            <a:srgbClr val="7C5FA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0233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2026/04/21 (二)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676656"/>
            <a:ext cx="9875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神磯日出．笠間花與甜點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04:45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481328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481328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神磯の舞台　海上鳥居日出（04:57）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52759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2759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2152759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152759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大洗海鮮市場　海鮮蓋飯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824190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24190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83080" y="2824190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824190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笠間稻荷神社　木雕與八重の藤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49562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9562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12:05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83080" y="349562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349562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笠間杜鵑花公園（¥500）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6705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705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13:05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83080" y="416705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416705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甜點巡禮：胡桃饅頭・豆乳甜甜圈・栗子蒙布朗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838482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38482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14:40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83080" y="4838482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4838482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市貝町芝櫻公園（¥500）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509913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509913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16:45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83080" y="5509913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5509913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神橋拍照 → 日光 Check-In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6199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Dragon Inn Nikko（日光市區）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09360" y="61996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海鮮蓋飯／豆皮壽司／日式定食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86384" cy="786384"/>
          </a:xfrm>
          <a:prstGeom prst="ellipse">
            <a:avLst/>
          </a:prstGeom>
          <a:solidFill>
            <a:srgbClr val="3F6FB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0233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2026/04/22 (三)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676656"/>
            <a:ext cx="9875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奧日光．中禪寺湖一日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51560" cy="505206"/>
          </a:xfrm>
          <a:prstGeom prst="roundRect">
            <a:avLst>
              <a:gd name="adj" fmla="val 12670"/>
            </a:avLst>
          </a:prstGeom>
          <a:solidFill>
            <a:srgbClr val="3F6FB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0515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08:55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481328"/>
            <a:ext cx="9738360" cy="505206"/>
          </a:xfrm>
          <a:prstGeom prst="roundRect">
            <a:avLst>
              <a:gd name="adj" fmla="val 12670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481328"/>
            <a:ext cx="94183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黒髪平展望台 → 明智平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068830"/>
            <a:ext cx="1051560" cy="505206"/>
          </a:xfrm>
          <a:prstGeom prst="roundRect">
            <a:avLst>
              <a:gd name="adj" fmla="val 12670"/>
            </a:avLst>
          </a:prstGeom>
          <a:solidFill>
            <a:srgbClr val="3F6FB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68830"/>
            <a:ext cx="10515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09:30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2068830"/>
            <a:ext cx="9738360" cy="505206"/>
          </a:xfrm>
          <a:prstGeom prst="roundRect">
            <a:avLst>
              <a:gd name="adj" fmla="val 12670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068830"/>
            <a:ext cx="94183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華嚴瀑布　下展望台（電梯 ¥600）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656332"/>
            <a:ext cx="1051560" cy="505206"/>
          </a:xfrm>
          <a:prstGeom prst="roundRect">
            <a:avLst>
              <a:gd name="adj" fmla="val 12670"/>
            </a:avLst>
          </a:prstGeom>
          <a:solidFill>
            <a:srgbClr val="3F6FB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6332"/>
            <a:ext cx="10515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10:15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83080" y="2656332"/>
            <a:ext cx="9738360" cy="505206"/>
          </a:xfrm>
          <a:prstGeom prst="roundRect">
            <a:avLst>
              <a:gd name="adj" fmla="val 12670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656332"/>
            <a:ext cx="94183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二荒山神社大鳥居．中禪寺湖畔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243834"/>
            <a:ext cx="1051560" cy="505206"/>
          </a:xfrm>
          <a:prstGeom prst="roundRect">
            <a:avLst>
              <a:gd name="adj" fmla="val 12670"/>
            </a:avLst>
          </a:prstGeom>
          <a:solidFill>
            <a:srgbClr val="3F6FB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3834"/>
            <a:ext cx="10515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11:00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83080" y="3243834"/>
            <a:ext cx="9738360" cy="505206"/>
          </a:xfrm>
          <a:prstGeom prst="roundRect">
            <a:avLst>
              <a:gd name="adj" fmla="val 12670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3243834"/>
            <a:ext cx="94183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淺井精肉店　炸豬排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831336"/>
            <a:ext cx="1051560" cy="505206"/>
          </a:xfrm>
          <a:prstGeom prst="roundRect">
            <a:avLst>
              <a:gd name="adj" fmla="val 12670"/>
            </a:avLst>
          </a:prstGeom>
          <a:solidFill>
            <a:srgbClr val="3F6FB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31336"/>
            <a:ext cx="10515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12:20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83080" y="3831336"/>
            <a:ext cx="9738360" cy="505206"/>
          </a:xfrm>
          <a:prstGeom prst="roundRect">
            <a:avLst>
              <a:gd name="adj" fmla="val 12670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3831336"/>
            <a:ext cx="94183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中禪寺湖遊覽船（¥1,600．整點船班）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418838"/>
            <a:ext cx="1051560" cy="505206"/>
          </a:xfrm>
          <a:prstGeom prst="roundRect">
            <a:avLst>
              <a:gd name="adj" fmla="val 12670"/>
            </a:avLst>
          </a:prstGeom>
          <a:solidFill>
            <a:srgbClr val="3F6FB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18838"/>
            <a:ext cx="10515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13:40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83080" y="4418838"/>
            <a:ext cx="9738360" cy="505206"/>
          </a:xfrm>
          <a:prstGeom prst="roundRect">
            <a:avLst>
              <a:gd name="adj" fmla="val 12670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4418838"/>
            <a:ext cx="94183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日光山中禪寺　立木觀音（¥500）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006340"/>
            <a:ext cx="1051560" cy="505206"/>
          </a:xfrm>
          <a:prstGeom prst="roundRect">
            <a:avLst>
              <a:gd name="adj" fmla="val 12670"/>
            </a:avLst>
          </a:prstGeom>
          <a:solidFill>
            <a:srgbClr val="3F6FB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006340"/>
            <a:ext cx="10515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15:15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83080" y="5006340"/>
            <a:ext cx="9738360" cy="505206"/>
          </a:xfrm>
          <a:prstGeom prst="roundRect">
            <a:avLst>
              <a:gd name="adj" fmla="val 12670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5006340"/>
            <a:ext cx="94183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半月山展望台（海拔 1,500 m）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593842"/>
            <a:ext cx="1051560" cy="505206"/>
          </a:xfrm>
          <a:prstGeom prst="roundRect">
            <a:avLst>
              <a:gd name="adj" fmla="val 12670"/>
            </a:avLst>
          </a:prstGeom>
          <a:solidFill>
            <a:srgbClr val="3F6FB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593842"/>
            <a:ext cx="10515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18:55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783080" y="5593842"/>
            <a:ext cx="9738360" cy="505206"/>
          </a:xfrm>
          <a:prstGeom prst="roundRect">
            <a:avLst>
              <a:gd name="adj" fmla="val 12670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65960" y="5593842"/>
            <a:ext cx="94183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戦場ヶ原 觀星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6199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旅籠 Nagomi（奧日光．溫泉．可洗衣）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09360" y="61996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甜甜圈／炸豬排／日式定食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86384" cy="786384"/>
          </a:xfrm>
          <a:prstGeom prst="ellipse">
            <a:avLst/>
          </a:prstGeom>
          <a:solidFill>
            <a:srgbClr val="7C5FA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0233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2026/04/23 (四)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676656"/>
            <a:ext cx="9875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世界遺產．足利大紫藤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481328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481328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輪王寺大猷院 → 二荒山神社 → 五重塔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52759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2759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2152759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152759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日光東照宮　陽明門．眠貓．奧宮（¥1,600）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824190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24190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10:40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83080" y="2824190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824190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大護摩堂　11:00 場護摩祈願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49562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9562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11:50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83080" y="349562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349562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日光街道：金谷麵包・炸湯波饅頭・布丁・醬油糰子・羊羹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6705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705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83080" y="416705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416705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足利花卉公園　大紫藤（17:30 點燈）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838482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38482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19:30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83080" y="4838482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4838482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織姫公園展望台 夜景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509913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509913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20:00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83080" y="5509913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5509913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青竹手打ラーメン 義信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6199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HOTEL R9 The Yard 足利福富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09360" y="61996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飯店早餐／拉麵／日光街道甜點／青竹手打麵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86384" cy="786384"/>
          </a:xfrm>
          <a:prstGeom prst="ellipse">
            <a:avLst/>
          </a:prstGeom>
          <a:solidFill>
            <a:srgbClr val="3F6FB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0233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2026/04/24 (五)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676656"/>
            <a:ext cx="9875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杜鵑．超寬烏龍麵．返回成田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481328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481328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七色鳥居（縁結び坂）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52759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2759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2152759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152759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佐野厄除大師　日本最大梵鐘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824190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24190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83080" y="2824190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824190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館林市杜鵑花岡公園（¥310–630）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49562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9562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12:05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83080" y="349562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349562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花山烏龍麵本店　5 公分超寬烏龍麵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6705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705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83080" y="416705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416705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Comfort Hotel 成田 Check-In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838482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38482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15:45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83080" y="4838482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4838482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TOYOTA 成田駅前店還車（先加油）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509913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3F6FB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509913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16:45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83080" y="5509913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5509913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永旺夢樂城 成田　晚餐與採買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6199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Comfort Hotel 成田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09360" y="61996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飯店微波早餐／花山烏龍麵／Outlet 晚餐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86384" cy="786384"/>
          </a:xfrm>
          <a:prstGeom prst="ellipse">
            <a:avLst/>
          </a:prstGeom>
          <a:solidFill>
            <a:srgbClr val="7C5FA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40233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2026/04/25 (六)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676656"/>
            <a:ext cx="9875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成田山．鰻魚飯．歸途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481328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481328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成田山表參道散步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52759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2759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08:50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2152759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152759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成田山新勝寺　御護摩火供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824190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24190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09:25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83080" y="2824190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824190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川豊本店 取整理券（10:10 用餐．僅收現金）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49562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9562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11:10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83080" y="349562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349562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鰻魚 駿河屋（11:00 開）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67051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7051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13:20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83080" y="4167051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4167051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回飯店取行李 → 13:59 京成本線往二航廈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838482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38482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14:20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83080" y="4838482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4838482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報到與機場購物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509913"/>
            <a:ext cx="1051560" cy="589135"/>
          </a:xfrm>
          <a:prstGeom prst="roundRect">
            <a:avLst>
              <a:gd name="adj" fmla="val 10865"/>
            </a:avLst>
          </a:prstGeom>
          <a:solidFill>
            <a:srgbClr val="7C5FA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509913"/>
            <a:ext cx="105156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16:20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83080" y="5509913"/>
            <a:ext cx="9738360" cy="589135"/>
          </a:xfrm>
          <a:prstGeom prst="roundRect">
            <a:avLst>
              <a:gd name="adj" fmla="val 10865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5509913"/>
            <a:ext cx="9418320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JX803 起飛　19:00 抵桃園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6199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　當日返台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09360" y="61996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餐食　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川豊本店／鰻魚 駿河屋／飛機餐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ACCOMMODATION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住宿總覽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737360"/>
                <a:gridCol w="3200400"/>
                <a:gridCol w="3200400"/>
                <a:gridCol w="7315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住宿地點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房型 / 備註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台幣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FA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04/18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茨城 日立市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Hotel Hitachi Hills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雙人1＋雙床1．含早餐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4,750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2–3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04/19–20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茨城 大洗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とびた荘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家庭房．私廁共用澡堂．溫泉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8,891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04/21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栃木 日光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Dragon Inn Nikko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公寓型 3 雙床房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4,815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04/22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栃木 奧日光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旅籠 Nagomi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雙人1＋雙床1．可洗脫烘衣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10,477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04/23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栃木 足利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HOTEL R9 The Yard 足利福富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雙床 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3,449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04/24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千葉 成田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Comfort Hotel 成田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雙人1＋雙床1．含早餐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4,437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晚住宿合計 NT$ 36,819　│　第 5 晚（奧日光）可洗衣　│　各飯店免費取消期限見 Excel「住宿總表」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TICKETS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門票與票券（每人）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34440" cy="548640"/>
          </a:xfrm>
          <a:prstGeom prst="roundRect">
            <a:avLst>
              <a:gd name="adj" fmla="val 11667"/>
            </a:avLst>
          </a:prstGeom>
          <a:solidFill>
            <a:srgbClr val="D99A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965960" y="1600200"/>
            <a:ext cx="9555480" cy="548640"/>
          </a:xfrm>
          <a:prstGeom prst="roundRect">
            <a:avLst>
              <a:gd name="adj" fmla="val 11667"/>
            </a:avLst>
          </a:prstGeom>
          <a:solidFill>
            <a:srgbClr val="FDF6E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60020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龍神大吊橋 ¥320　│　袋田瀑布 ¥300　│　静峰故鄉公園 ¥300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1234440" cy="548640"/>
          </a:xfrm>
          <a:prstGeom prst="roundRect">
            <a:avLst>
              <a:gd name="adj" fmla="val 11667"/>
            </a:avLst>
          </a:prstGeom>
          <a:solidFill>
            <a:srgbClr val="D99A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5856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965960" y="2258568"/>
            <a:ext cx="9555480" cy="548640"/>
          </a:xfrm>
          <a:prstGeom prst="roundRect">
            <a:avLst>
              <a:gd name="adj" fmla="val 11667"/>
            </a:avLst>
          </a:prstGeom>
          <a:solidFill>
            <a:srgbClr val="FDF6E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258568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常陸海濱公園 ¥450＋¥350（停車 ¥600）　│　偕樂園 ¥320＋好文亭 ¥230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1234440" cy="548640"/>
          </a:xfrm>
          <a:prstGeom prst="roundRect">
            <a:avLst>
              <a:gd name="adj" fmla="val 11667"/>
            </a:avLst>
          </a:prstGeom>
          <a:solidFill>
            <a:srgbClr val="D99A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16936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965960" y="2916936"/>
            <a:ext cx="9555480" cy="548640"/>
          </a:xfrm>
          <a:prstGeom prst="roundRect">
            <a:avLst>
              <a:gd name="adj" fmla="val 11667"/>
            </a:avLst>
          </a:prstGeom>
          <a:solidFill>
            <a:srgbClr val="FDF6E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916936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笠間杜鵑花公園 ¥500　│　市貝町芝櫻公園 ¥500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75304"/>
            <a:ext cx="1234440" cy="548640"/>
          </a:xfrm>
          <a:prstGeom prst="roundRect">
            <a:avLst>
              <a:gd name="adj" fmla="val 11667"/>
            </a:avLst>
          </a:prstGeom>
          <a:solidFill>
            <a:srgbClr val="D99A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7530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965960" y="3575304"/>
            <a:ext cx="9555480" cy="548640"/>
          </a:xfrm>
          <a:prstGeom prst="roundRect">
            <a:avLst>
              <a:gd name="adj" fmla="val 11667"/>
            </a:avLst>
          </a:prstGeom>
          <a:solidFill>
            <a:srgbClr val="FDF6E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575304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華嚴瀑布電梯 ¥600　│　中禪寺湖遊覽船 ¥1,600　│　立木觀音 ¥500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233672"/>
            <a:ext cx="1234440" cy="548640"/>
          </a:xfrm>
          <a:prstGeom prst="roundRect">
            <a:avLst>
              <a:gd name="adj" fmla="val 11667"/>
            </a:avLst>
          </a:prstGeom>
          <a:solidFill>
            <a:srgbClr val="D99A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336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6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965960" y="4233672"/>
            <a:ext cx="9555480" cy="548640"/>
          </a:xfrm>
          <a:prstGeom prst="roundRect">
            <a:avLst>
              <a:gd name="adj" fmla="val 11667"/>
            </a:avLst>
          </a:prstGeom>
          <a:solidFill>
            <a:srgbClr val="FDF6E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4233672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輪王寺套票 ¥900　│　東照宮 ¥1,600　│　足利花卉公園 ¥1,200–2,300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1234440" cy="548640"/>
          </a:xfrm>
          <a:prstGeom prst="roundRect">
            <a:avLst>
              <a:gd name="adj" fmla="val 11667"/>
            </a:avLst>
          </a:prstGeom>
          <a:solidFill>
            <a:srgbClr val="D99A2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92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7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965960" y="4892040"/>
            <a:ext cx="9555480" cy="548640"/>
          </a:xfrm>
          <a:prstGeom prst="roundRect">
            <a:avLst>
              <a:gd name="adj" fmla="val 11667"/>
            </a:avLst>
          </a:prstGeom>
          <a:solidFill>
            <a:srgbClr val="FDF6E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489204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館林杜鵑花岡公園 ¥310–630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合計約 ¥11,000–12,000／人（不含停車費）。停車多為 ¥500–700／次，日光二荒山 ¥700、常陸海濱 ¥600。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交通與租車重點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3F6FB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去程 JX800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0" y="1554480"/>
            <a:ext cx="8961120" cy="548640"/>
          </a:xfrm>
          <a:prstGeom prst="roundRect">
            <a:avLst>
              <a:gd name="adj" fmla="val 11667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554480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04/18　08:30 桃園 → 12:55 成田（A350-1000．3h25m）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3F6FB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128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回程 JX803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0" y="2212848"/>
            <a:ext cx="8961120" cy="548640"/>
          </a:xfrm>
          <a:prstGeom prst="roundRect">
            <a:avLst>
              <a:gd name="adj" fmla="val 11667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21284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04/25　16:20 成田 → 19:00 桃園（A350-900．3h40m）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871216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3F6FB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71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網路報到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60320" y="2871216"/>
            <a:ext cx="8961120" cy="548640"/>
          </a:xfrm>
          <a:prstGeom prst="roundRect">
            <a:avLst>
              <a:gd name="adj" fmla="val 11667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871216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起飛前 48 小時至 1 小時內於官網／APP 辦理，並登錄機位與餐點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9584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7C5FA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95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租車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560320" y="3529584"/>
            <a:ext cx="8961120" cy="548640"/>
          </a:xfrm>
          <a:prstGeom prst="roundRect">
            <a:avLst>
              <a:gd name="adj" fmla="val 11667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529584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TOYOTA SIENTA．成田空港店取車 → 成田駅前店還車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87952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7C5FA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87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取車流程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560320" y="4187952"/>
            <a:ext cx="8961120" cy="548640"/>
          </a:xfrm>
          <a:prstGeom prst="roundRect">
            <a:avLst>
              <a:gd name="adj" fmla="val 11667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187952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航廈櫃檯登記 → 第 25 號站牌搭接駁車（約 15 分）→ 空港店取車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7C5FA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46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必備文件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560320" y="4846320"/>
            <a:ext cx="8961120" cy="548640"/>
          </a:xfrm>
          <a:prstGeom prst="roundRect">
            <a:avLst>
              <a:gd name="adj" fmla="val 11667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846320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護照、駕照正本、日文譯本、預約單（建議列印或截圖）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504688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3F6FB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5046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行李規定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560320" y="5504688"/>
            <a:ext cx="8961120" cy="548640"/>
          </a:xfrm>
          <a:prstGeom prst="roundRect">
            <a:avLst>
              <a:gd name="adj" fmla="val 11667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550468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托運單件 &lt; 23 kg、三邊和 &lt; 158 cm；手提 &lt; 7 kg（36×23×56 cm）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CUSTOMS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出入境注意事項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E4ED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入境日本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抵達前 6 小時以上填妥 Visit Japan Web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禁帶蔬果（含種子）、肉類與肉製品，飛機餐剩食也不行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行動電源須標示容量且 ≤ 100 Wh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藥物不超過 2 個月份，附處方或中／英文說明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免稅額 20 萬日圓；酒 3 瓶／菸 200 支／香水 2 盎司擇一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備妥回程機票、行程表、訂房與付款證明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EFE9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5F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入境台灣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應申報：酒 &gt; 1.5 L、菸 &gt; 1 條（200 支）、雪茄 &gt; 25 支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禁帶：肉類製品、未核准乳製品、生鮮蔬果、高風險蛋製品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一般食品：總值 &lt; US$1,000 且總重 &lt; 6 kg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保健食品：每種 ≤ 12 瓶、總計 ≤ 36 瓶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不確定就主動到檢疫櫃檯詢問，主動申報不會受罰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16636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DF6E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303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通訊與付款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網卡：翔翼日行卡（KDDI 吃到飽）　│　eSim：KLOOK／KKday　│　漫遊：中華電信 20GB $1,288（30 天）、5GB $488（15 天）　│　部分餐廳（川豊本店、駿河屋、麵屋金花土）僅收現金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攜帶物品重點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3F6FB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身上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743200" y="1600200"/>
            <a:ext cx="8778240" cy="914400"/>
          </a:xfrm>
          <a:prstGeom prst="roundRect">
            <a:avLst>
              <a:gd name="adj" fmla="val 9000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6002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護照・身分證・駕照＋日文譯本・手機・眼鏡・手錶・交通卡・信用卡・台幣與日幣現金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7C5FA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919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隨身後背包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743200" y="2679192"/>
            <a:ext cx="8778240" cy="914400"/>
          </a:xfrm>
          <a:prstGeom prst="roundRect">
            <a:avLst>
              <a:gd name="adj" fmla="val 9000"/>
            </a:avLst>
          </a:prstGeom>
          <a:solidFill>
            <a:srgbClr val="EFE9F7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679192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行動電源・充電線・耳機・Sim 卡・摺疊傘・常備藥・暈車藥・口罩・保溫瓶（每瓶液體 &lt; 100 ml，合計 &lt; 1 L）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58184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3F6FB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5818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托運行李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743200" y="3758184"/>
            <a:ext cx="8778240" cy="914400"/>
          </a:xfrm>
          <a:prstGeom prst="roundRect">
            <a:avLst>
              <a:gd name="adj" fmla="val 9000"/>
            </a:avLst>
          </a:prstGeom>
          <a:solidFill>
            <a:srgbClr val="E4EDF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758184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衣物 ×5 套・薄外套・睡衣・盥洗用品・防曬與防蚊・延長線・行李秤・購物袋（總液體 &lt; 5 L）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37176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D99A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3717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回程加購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2743200" y="4837176"/>
            <a:ext cx="8778240" cy="914400"/>
          </a:xfrm>
          <a:prstGeom prst="roundRect">
            <a:avLst>
              <a:gd name="adj" fmla="val 9000"/>
            </a:avLst>
          </a:prstGeom>
          <a:solidFill>
            <a:srgbClr val="FDF6E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4837176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 &lt; 1.5 L・伴手禮・藥妝・保健食品 → 一律放托運；免稅品放登機包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3566160"/>
            <a:ext cx="4206240" cy="4206240"/>
          </a:xfrm>
          <a:prstGeom prst="ellipse">
            <a:avLst/>
          </a:prstGeom>
          <a:solidFill>
            <a:srgbClr val="7C5FA8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097280"/>
            <a:ext cx="4206240" cy="4206240"/>
          </a:xfrm>
          <a:prstGeom prst="ellipse">
            <a:avLst/>
          </a:prstGeom>
          <a:solidFill>
            <a:srgbClr val="3F6FB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出發前確認清單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2039112"/>
            <a:ext cx="310896" cy="3108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Visit Japan Web 已完成登錄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660904"/>
            <a:ext cx="310896" cy="3108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5877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星宇航空網路報到（起飛前 48 h）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282696"/>
            <a:ext cx="310896" cy="3108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20954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租車預約單、駕照日文譯本已備妥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3904488"/>
            <a:ext cx="310896" cy="3108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83133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山翠鮟鱇魚火鍋訂位（Day 3）已確認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4526280"/>
            <a:ext cx="310896" cy="3108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4531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飯店免費取消期限已記錄　│　網卡或 eSim 已購買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8680" y="5148072"/>
            <a:ext cx="310896" cy="3108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48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5074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日出時間：04:57–04:59；日落時間：18:14–18:18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E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詳細逐時行程請見 Excel「行程總表」與各日分頁；注意事項全文見旅遊手冊 Word。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2026-08-22T09:56:22Z</dcterms:created>
  <dcterms:modified xsi:type="dcterms:W3CDTF">2026-08-22T09:56:22Z</dcterms:modified>
</cp:coreProperties>
</file>